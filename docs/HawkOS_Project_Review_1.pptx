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5" r:id="rId15"/>
    <p:sldId id="276" r:id="rId16"/>
    <p:sldId id="277" r:id="rId17"/>
    <p:sldId id="278" r:id="rId18"/>
    <p:sldId id="279" r:id="rId19"/>
    <p:sldId id="270" r:id="rId20"/>
    <p:sldId id="271"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5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48840"/>
            <a:ext cx="118872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286000"/>
            <a:ext cx="10515600" cy="1097280"/>
          </a:xfrm>
          <a:prstGeom prst="rect">
            <a:avLst/>
          </a:prstGeom>
          <a:noFill/>
        </p:spPr>
        <p:txBody>
          <a:bodyPr wrap="square" anchor="t">
            <a:spAutoFit/>
          </a:bodyPr>
          <a:lstStyle/>
          <a:p>
            <a:pPr algn="l">
              <a:lnSpc>
                <a:spcPct val="100000"/>
              </a:lnSpc>
            </a:pPr>
            <a:r>
              <a:rPr sz="6000" b="1" i="0">
                <a:solidFill>
                  <a:srgbClr val="F2F2F2"/>
                </a:solidFill>
                <a:latin typeface="Calibri"/>
              </a:rPr>
              <a:t>HawkOS</a:t>
            </a:r>
          </a:p>
        </p:txBody>
      </p:sp>
      <p:sp>
        <p:nvSpPr>
          <p:cNvPr id="5" name="TextBox 4"/>
          <p:cNvSpPr txBox="1"/>
          <p:nvPr/>
        </p:nvSpPr>
        <p:spPr>
          <a:xfrm>
            <a:off x="822960" y="3246120"/>
            <a:ext cx="10515600" cy="548640"/>
          </a:xfrm>
          <a:prstGeom prst="rect">
            <a:avLst/>
          </a:prstGeom>
          <a:noFill/>
        </p:spPr>
        <p:txBody>
          <a:bodyPr wrap="square" anchor="t">
            <a:spAutoFit/>
          </a:bodyPr>
          <a:lstStyle/>
          <a:p>
            <a:pPr algn="l">
              <a:lnSpc>
                <a:spcPct val="100000"/>
              </a:lnSpc>
            </a:pPr>
            <a:r>
              <a:rPr sz="2000" b="0" i="1">
                <a:solidFill>
                  <a:srgbClr val="A9B6C2"/>
                </a:solidFill>
                <a:latin typeface="Calibri"/>
              </a:rPr>
              <a:t>A Lightweight x86 Operating System, Built from Scratch</a:t>
            </a:r>
          </a:p>
        </p:txBody>
      </p:sp>
      <p:sp>
        <p:nvSpPr>
          <p:cNvPr id="6" name="TextBox 5"/>
          <p:cNvSpPr txBox="1"/>
          <p:nvPr/>
        </p:nvSpPr>
        <p:spPr>
          <a:xfrm>
            <a:off x="822960" y="3886200"/>
            <a:ext cx="10515600" cy="548640"/>
          </a:xfrm>
          <a:prstGeom prst="rect">
            <a:avLst/>
          </a:prstGeom>
          <a:noFill/>
        </p:spPr>
        <p:txBody>
          <a:bodyPr wrap="square" anchor="t">
            <a:spAutoFit/>
          </a:bodyPr>
          <a:lstStyle/>
          <a:p>
            <a:pPr algn="l">
              <a:lnSpc>
                <a:spcPct val="100000"/>
              </a:lnSpc>
            </a:pPr>
            <a:r>
              <a:rPr sz="1800" b="1" i="0">
                <a:solidFill>
                  <a:srgbClr val="FFD800"/>
                </a:solidFill>
                <a:latin typeface="Calibri"/>
              </a:rPr>
              <a:t>PROJECT REVIEW – I</a:t>
            </a:r>
          </a:p>
        </p:txBody>
      </p:sp>
      <p:sp>
        <p:nvSpPr>
          <p:cNvPr id="7" name="TextBox 6"/>
          <p:cNvSpPr txBox="1"/>
          <p:nvPr/>
        </p:nvSpPr>
        <p:spPr>
          <a:xfrm>
            <a:off x="822960" y="5120640"/>
            <a:ext cx="5486400" cy="320040"/>
          </a:xfrm>
          <a:prstGeom prst="rect">
            <a:avLst/>
          </a:prstGeom>
          <a:noFill/>
        </p:spPr>
        <p:txBody>
          <a:bodyPr wrap="square" anchor="t">
            <a:spAutoFit/>
          </a:bodyPr>
          <a:lstStyle/>
          <a:p>
            <a:pPr algn="l">
              <a:lnSpc>
                <a:spcPct val="100000"/>
              </a:lnSpc>
            </a:pPr>
            <a:r>
              <a:rPr sz="1300" b="0" i="0">
                <a:solidFill>
                  <a:srgbClr val="A9B6C2"/>
                </a:solidFill>
                <a:latin typeface="Calibri"/>
              </a:rPr>
              <a:t>Submitted by</a:t>
            </a:r>
          </a:p>
        </p:txBody>
      </p:sp>
      <p:sp>
        <p:nvSpPr>
          <p:cNvPr id="8" name="TextBox 7"/>
          <p:cNvSpPr txBox="1"/>
          <p:nvPr/>
        </p:nvSpPr>
        <p:spPr>
          <a:xfrm>
            <a:off x="822960" y="5440680"/>
            <a:ext cx="6400800" cy="365760"/>
          </a:xfrm>
          <a:prstGeom prst="rect">
            <a:avLst/>
          </a:prstGeom>
          <a:noFill/>
        </p:spPr>
        <p:txBody>
          <a:bodyPr wrap="square" anchor="t">
            <a:spAutoFit/>
          </a:bodyPr>
          <a:lstStyle/>
          <a:p>
            <a:pPr algn="l">
              <a:lnSpc>
                <a:spcPct val="100000"/>
              </a:lnSpc>
            </a:pPr>
            <a:r>
              <a:rPr sz="1500" b="0" i="0">
                <a:solidFill>
                  <a:srgbClr val="F2F2F2"/>
                </a:solidFill>
                <a:latin typeface="Calibri"/>
              </a:rPr>
              <a:t>Priyanshu Ghosh — 24BDE0138</a:t>
            </a:r>
          </a:p>
        </p:txBody>
      </p:sp>
      <p:sp>
        <p:nvSpPr>
          <p:cNvPr id="9" name="TextBox 8"/>
          <p:cNvSpPr txBox="1"/>
          <p:nvPr/>
        </p:nvSpPr>
        <p:spPr>
          <a:xfrm>
            <a:off x="822960" y="5760720"/>
            <a:ext cx="6400800" cy="365760"/>
          </a:xfrm>
          <a:prstGeom prst="rect">
            <a:avLst/>
          </a:prstGeom>
          <a:noFill/>
        </p:spPr>
        <p:txBody>
          <a:bodyPr wrap="square" anchor="t">
            <a:spAutoFit/>
          </a:bodyPr>
          <a:lstStyle/>
          <a:p>
            <a:pPr algn="l">
              <a:lnSpc>
                <a:spcPct val="100000"/>
              </a:lnSpc>
            </a:pPr>
            <a:r>
              <a:rPr sz="1500" b="0" i="0">
                <a:solidFill>
                  <a:srgbClr val="F2F2F2"/>
                </a:solidFill>
                <a:latin typeface="Calibri"/>
              </a:rPr>
              <a:t>Leya Susan Vargheese — 24BDE0134</a:t>
            </a:r>
          </a:p>
        </p:txBody>
      </p:sp>
      <p:sp>
        <p:nvSpPr>
          <p:cNvPr id="10" name="TextBox 9"/>
          <p:cNvSpPr txBox="1"/>
          <p:nvPr/>
        </p:nvSpPr>
        <p:spPr>
          <a:xfrm>
            <a:off x="8412480" y="5440680"/>
            <a:ext cx="2926080" cy="731520"/>
          </a:xfrm>
          <a:prstGeom prst="rect">
            <a:avLst/>
          </a:prstGeom>
          <a:noFill/>
        </p:spPr>
        <p:txBody>
          <a:bodyPr wrap="square" anchor="t">
            <a:spAutoFit/>
          </a:bodyPr>
          <a:lstStyle/>
          <a:p>
            <a:pPr algn="l">
              <a:lnSpc>
                <a:spcPct val="100000"/>
              </a:lnSpc>
            </a:pPr>
            <a:r>
              <a:rPr sz="1200" b="0" i="0">
                <a:solidFill>
                  <a:srgbClr val="A9B6C2"/>
                </a:solidFill>
                <a:latin typeface="Calibri"/>
              </a:rPr>
              <a:t>Guide: [ Faculty Name ]</a:t>
            </a:r>
          </a:p>
          <a:p>
            <a:pPr algn="l">
              <a:lnSpc>
                <a:spcPct val="100000"/>
              </a:lnSpc>
            </a:pPr>
            <a:r>
              <a:rPr sz="1200" b="0" i="0">
                <a:solidFill>
                  <a:srgbClr val="A9B6C2"/>
                </a:solidFill>
                <a:latin typeface="Calibri"/>
              </a:rPr>
              <a:t>[ University / School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OVERVIEW</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Agenda</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2</a:t>
            </a:r>
          </a:p>
        </p:txBody>
      </p:sp>
      <p:sp>
        <p:nvSpPr>
          <p:cNvPr id="8" name="TextBox 7"/>
          <p:cNvSpPr txBox="1"/>
          <p:nvPr/>
        </p:nvSpPr>
        <p:spPr>
          <a:xfrm>
            <a:off x="822960" y="1828800"/>
            <a:ext cx="10058400" cy="4114800"/>
          </a:xfrm>
          <a:prstGeom prst="rect">
            <a:avLst/>
          </a:prstGeom>
          <a:noFill/>
        </p:spPr>
        <p:txBody>
          <a:bodyPr wrap="square">
            <a:spAutoFit/>
          </a:bodyPr>
          <a:lstStyle/>
          <a:p>
            <a:pPr>
              <a:lnSpc>
                <a:spcPct val="108000"/>
              </a:lnSpc>
              <a:spcAft>
                <a:spcPts val="1400"/>
              </a:spcAft>
            </a:pPr>
            <a:r>
              <a:rPr sz="1900">
                <a:solidFill>
                  <a:srgbClr val="F2F2F2"/>
                </a:solidFill>
                <a:latin typeface="Calibri"/>
              </a:rPr>
              <a:t>▸  Objectives and scope for this review</a:t>
            </a:r>
          </a:p>
          <a:p>
            <a:pPr>
              <a:lnSpc>
                <a:spcPct val="108000"/>
              </a:lnSpc>
              <a:spcAft>
                <a:spcPts val="1400"/>
              </a:spcAft>
            </a:pPr>
            <a:r>
              <a:rPr sz="1900">
                <a:solidFill>
                  <a:srgbClr val="F2F2F2"/>
                </a:solidFill>
                <a:latin typeface="Calibri"/>
              </a:rPr>
              <a:t>▸  Toolchain and system architecture</a:t>
            </a:r>
          </a:p>
          <a:p>
            <a:pPr>
              <a:lnSpc>
                <a:spcPct val="108000"/>
              </a:lnSpc>
              <a:spcAft>
                <a:spcPts val="1400"/>
              </a:spcAft>
            </a:pPr>
            <a:r>
              <a:rPr sz="1900">
                <a:solidFill>
                  <a:srgbClr val="F2F2F2"/>
                </a:solidFill>
                <a:latin typeface="Calibri"/>
              </a:rPr>
              <a:t>▸  Work completed: boot, interrupts, drivers, shell, memory management</a:t>
            </a:r>
          </a:p>
          <a:p>
            <a:pPr>
              <a:lnSpc>
                <a:spcPct val="108000"/>
              </a:lnSpc>
              <a:spcAft>
                <a:spcPts val="1400"/>
              </a:spcAft>
            </a:pPr>
            <a:r>
              <a:rPr sz="1900">
                <a:solidFill>
                  <a:srgbClr val="F2F2F2"/>
                </a:solidFill>
                <a:latin typeface="Calibri"/>
              </a:rPr>
              <a:t>▸  Work completed: storage (FAT32), graphics, and a GUI preview</a:t>
            </a:r>
          </a:p>
          <a:p>
            <a:pPr>
              <a:lnSpc>
                <a:spcPct val="108000"/>
              </a:lnSpc>
              <a:spcAft>
                <a:spcPts val="1400"/>
              </a:spcAft>
            </a:pPr>
            <a:r>
              <a:rPr sz="1900">
                <a:solidFill>
                  <a:srgbClr val="F2F2F2"/>
                </a:solidFill>
                <a:latin typeface="Calibri"/>
              </a:rPr>
              <a:t>▸  Live demo screenshots</a:t>
            </a:r>
          </a:p>
          <a:p>
            <a:pPr>
              <a:lnSpc>
                <a:spcPct val="108000"/>
              </a:lnSpc>
              <a:spcAft>
                <a:spcPts val="1400"/>
              </a:spcAft>
            </a:pPr>
            <a:r>
              <a:rPr sz="1900">
                <a:solidFill>
                  <a:srgbClr val="F2F2F2"/>
                </a:solidFill>
                <a:latin typeface="Calibri"/>
              </a:rPr>
              <a:t>▸  Current results and known limitations</a:t>
            </a:r>
          </a:p>
          <a:p>
            <a:pPr>
              <a:lnSpc>
                <a:spcPct val="108000"/>
              </a:lnSpc>
              <a:spcAft>
                <a:spcPts val="1400"/>
              </a:spcAft>
            </a:pPr>
            <a:r>
              <a:rPr sz="1900">
                <a:solidFill>
                  <a:srgbClr val="F2F2F2"/>
                </a:solidFill>
                <a:latin typeface="Calibri"/>
              </a:rPr>
              <a:t>▸  Future scope: Review 2 and Review 3, ending in a working web browser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INTRODUCTION</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Why Build an OS From Scratch?</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3</a:t>
            </a:r>
          </a:p>
        </p:txBody>
      </p:sp>
      <p:sp>
        <p:nvSpPr>
          <p:cNvPr id="8" name="TextBox 7"/>
          <p:cNvSpPr txBox="1"/>
          <p:nvPr/>
        </p:nvSpPr>
        <p:spPr>
          <a:xfrm>
            <a:off x="640080" y="1828800"/>
            <a:ext cx="10789920" cy="1463040"/>
          </a:xfrm>
          <a:prstGeom prst="rect">
            <a:avLst/>
          </a:prstGeom>
          <a:noFill/>
        </p:spPr>
        <p:txBody>
          <a:bodyPr wrap="square" anchor="t">
            <a:spAutoFit/>
          </a:bodyPr>
          <a:lstStyle/>
          <a:p>
            <a:pPr algn="l">
              <a:lnSpc>
                <a:spcPct val="120000"/>
              </a:lnSpc>
            </a:pPr>
            <a:r>
              <a:rPr sz="1700" b="0" i="0">
                <a:solidFill>
                  <a:srgbClr val="F2F2F2"/>
                </a:solidFill>
                <a:latin typeface="Calibri"/>
              </a:rPr>
              <a:t>Modern operating systems hide enormous complexity behind system calls and standard libraries. HawkOS rebuilds that complexity from nothing — starting at the CPU reset vector — to genuinely understand booting, interrupts, memory virtualization, and eventually a full desktop and browser.</a:t>
            </a:r>
          </a:p>
        </p:txBody>
      </p:sp>
      <p:sp>
        <p:nvSpPr>
          <p:cNvPr id="9" name="Rounded Rectangle 8"/>
          <p:cNvSpPr/>
          <p:nvPr/>
        </p:nvSpPr>
        <p:spPr>
          <a:xfrm>
            <a:off x="640080" y="3657600"/>
            <a:ext cx="3383280" cy="219456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Architecture</a:t>
            </a:r>
          </a:p>
          <a:p>
            <a:pPr>
              <a:spcBef>
                <a:spcPts val="400"/>
              </a:spcBef>
            </a:pPr>
            <a:r>
              <a:rPr sz="1350">
                <a:solidFill>
                  <a:srgbClr val="F2F2F2"/>
                </a:solidFill>
              </a:rPr>
              <a:t>x86, 32-bit protected mode</a:t>
            </a:r>
          </a:p>
          <a:p>
            <a:pPr>
              <a:spcBef>
                <a:spcPts val="400"/>
              </a:spcBef>
            </a:pPr>
            <a:r>
              <a:rPr sz="1350">
                <a:solidFill>
                  <a:srgbClr val="F2F2F2"/>
                </a:solidFill>
              </a:rPr>
              <a:t>Booted via GRUB</a:t>
            </a:r>
          </a:p>
          <a:p>
            <a:pPr>
              <a:spcBef>
                <a:spcPts val="400"/>
              </a:spcBef>
            </a:pPr>
            <a:r>
              <a:rPr sz="1350">
                <a:solidFill>
                  <a:srgbClr val="F2F2F2"/>
                </a:solidFill>
              </a:rPr>
              <a:t>Multiboot 1 specification</a:t>
            </a:r>
          </a:p>
        </p:txBody>
      </p:sp>
      <p:sp>
        <p:nvSpPr>
          <p:cNvPr id="10" name="Rounded Rectangle 9"/>
          <p:cNvSpPr/>
          <p:nvPr/>
        </p:nvSpPr>
        <p:spPr>
          <a:xfrm>
            <a:off x="4297680" y="3657600"/>
            <a:ext cx="3383280" cy="219456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Development</a:t>
            </a:r>
          </a:p>
          <a:p>
            <a:pPr>
              <a:spcBef>
                <a:spcPts val="400"/>
              </a:spcBef>
            </a:pPr>
            <a:r>
              <a:rPr sz="1350">
                <a:solidFill>
                  <a:srgbClr val="F2F2F2"/>
                </a:solidFill>
              </a:rPr>
              <a:t>QEMU (qemu-system-i386)</a:t>
            </a:r>
          </a:p>
          <a:p>
            <a:pPr>
              <a:spcBef>
                <a:spcPts val="400"/>
              </a:spcBef>
            </a:pPr>
            <a:r>
              <a:rPr sz="1350">
                <a:solidFill>
                  <a:srgbClr val="F2F2F2"/>
                </a:solidFill>
              </a:rPr>
              <a:t>Primary test environment</a:t>
            </a:r>
          </a:p>
          <a:p>
            <a:pPr>
              <a:spcBef>
                <a:spcPts val="400"/>
              </a:spcBef>
            </a:pPr>
            <a:r>
              <a:rPr sz="1350">
                <a:solidFill>
                  <a:srgbClr val="F2F2F2"/>
                </a:solidFill>
              </a:rPr>
              <a:t>Real hardware: future work</a:t>
            </a:r>
          </a:p>
        </p:txBody>
      </p:sp>
      <p:sp>
        <p:nvSpPr>
          <p:cNvPr id="11" name="Rounded Rectangle 10"/>
          <p:cNvSpPr/>
          <p:nvPr/>
        </p:nvSpPr>
        <p:spPr>
          <a:xfrm>
            <a:off x="7955279" y="3657600"/>
            <a:ext cx="3566160" cy="219456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End Goal</a:t>
            </a:r>
          </a:p>
          <a:p>
            <a:pPr>
              <a:spcBef>
                <a:spcPts val="400"/>
              </a:spcBef>
            </a:pPr>
            <a:r>
              <a:rPr sz="1350">
                <a:solidFill>
                  <a:srgbClr val="F2F2F2"/>
                </a:solidFill>
              </a:rPr>
              <a:t>Graphical desktop environment</a:t>
            </a:r>
          </a:p>
          <a:p>
            <a:pPr>
              <a:spcBef>
                <a:spcPts val="400"/>
              </a:spcBef>
            </a:pPr>
            <a:r>
              <a:rPr sz="1350">
                <a:solidFill>
                  <a:srgbClr val="F2F2F2"/>
                </a:solidFill>
              </a:rPr>
              <a:t>Centerpiece: a working browser</a:t>
            </a:r>
          </a:p>
          <a:p>
            <a:pPr>
              <a:spcBef>
                <a:spcPts val="400"/>
              </a:spcBef>
            </a:pPr>
            <a:r>
              <a:rPr sz="1350">
                <a:solidFill>
                  <a:srgbClr val="F2F2F2"/>
                </a:solidFill>
              </a:rPr>
              <a:t>Budget: 128 MB RAM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OBJECTIVES</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Long-Term Goal vs. This Review's Scope</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4</a:t>
            </a:r>
          </a:p>
        </p:txBody>
      </p:sp>
      <p:sp>
        <p:nvSpPr>
          <p:cNvPr id="8" name="TextBox 7"/>
          <p:cNvSpPr txBox="1"/>
          <p:nvPr/>
        </p:nvSpPr>
        <p:spPr>
          <a:xfrm>
            <a:off x="640080" y="1783080"/>
            <a:ext cx="5120640" cy="365760"/>
          </a:xfrm>
          <a:prstGeom prst="rect">
            <a:avLst/>
          </a:prstGeom>
          <a:noFill/>
        </p:spPr>
        <p:txBody>
          <a:bodyPr wrap="square" anchor="t">
            <a:spAutoFit/>
          </a:bodyPr>
          <a:lstStyle/>
          <a:p>
            <a:pPr algn="l">
              <a:lnSpc>
                <a:spcPct val="100000"/>
              </a:lnSpc>
            </a:pPr>
            <a:r>
              <a:rPr sz="1600" b="1" i="0">
                <a:solidFill>
                  <a:srgbClr val="FFD800"/>
                </a:solidFill>
                <a:latin typeface="Calibri"/>
              </a:rPr>
              <a:t>Long-term objective</a:t>
            </a:r>
          </a:p>
        </p:txBody>
      </p:sp>
      <p:sp>
        <p:nvSpPr>
          <p:cNvPr id="9" name="TextBox 8"/>
          <p:cNvSpPr txBox="1"/>
          <p:nvPr/>
        </p:nvSpPr>
        <p:spPr>
          <a:xfrm>
            <a:off x="640080" y="2148840"/>
            <a:ext cx="5120640" cy="1828800"/>
          </a:xfrm>
          <a:prstGeom prst="rect">
            <a:avLst/>
          </a:prstGeom>
          <a:noFill/>
        </p:spPr>
        <p:txBody>
          <a:bodyPr wrap="square" anchor="t">
            <a:spAutoFit/>
          </a:bodyPr>
          <a:lstStyle/>
          <a:p>
            <a:pPr algn="l">
              <a:lnSpc>
                <a:spcPct val="120000"/>
              </a:lnSpc>
            </a:pPr>
            <a:r>
              <a:rPr sz="1600" b="0" i="0">
                <a:solidFill>
                  <a:srgbClr val="F2F2F2"/>
                </a:solidFill>
                <a:latin typeface="Calibri"/>
              </a:rPr>
              <a:t>A lightweight OS with a functioning graphical desktop and a working web browser as its centerpiece application — engineered to run entirely within a 128 MB RAM budget.</a:t>
            </a:r>
          </a:p>
        </p:txBody>
      </p:sp>
      <p:sp>
        <p:nvSpPr>
          <p:cNvPr id="10" name="TextBox 9"/>
          <p:cNvSpPr txBox="1"/>
          <p:nvPr/>
        </p:nvSpPr>
        <p:spPr>
          <a:xfrm>
            <a:off x="6309360" y="1783080"/>
            <a:ext cx="5120640" cy="365760"/>
          </a:xfrm>
          <a:prstGeom prst="rect">
            <a:avLst/>
          </a:prstGeom>
          <a:noFill/>
        </p:spPr>
        <p:txBody>
          <a:bodyPr wrap="square" anchor="t">
            <a:spAutoFit/>
          </a:bodyPr>
          <a:lstStyle/>
          <a:p>
            <a:pPr algn="l">
              <a:lnSpc>
                <a:spcPct val="100000"/>
              </a:lnSpc>
            </a:pPr>
            <a:r>
              <a:rPr sz="1600" b="1" i="0">
                <a:solidFill>
                  <a:srgbClr val="FFD800"/>
                </a:solidFill>
                <a:latin typeface="Calibri"/>
              </a:rPr>
              <a:t>Review – I scope</a:t>
            </a:r>
          </a:p>
        </p:txBody>
      </p:sp>
      <p:sp>
        <p:nvSpPr>
          <p:cNvPr id="11" name="TextBox 10"/>
          <p:cNvSpPr txBox="1"/>
          <p:nvPr/>
        </p:nvSpPr>
        <p:spPr>
          <a:xfrm>
            <a:off x="6309360" y="2148840"/>
            <a:ext cx="5120640" cy="3840480"/>
          </a:xfrm>
          <a:prstGeom prst="rect">
            <a:avLst/>
          </a:prstGeom>
          <a:noFill/>
        </p:spPr>
        <p:txBody>
          <a:bodyPr wrap="square">
            <a:spAutoFit/>
          </a:bodyPr>
          <a:lstStyle/>
          <a:p>
            <a:pPr>
              <a:lnSpc>
                <a:spcPct val="108000"/>
              </a:lnSpc>
              <a:spcAft>
                <a:spcPts val="800"/>
              </a:spcAft>
            </a:pPr>
            <a:r>
              <a:rPr sz="1450">
                <a:solidFill>
                  <a:srgbClr val="F2F2F2"/>
                </a:solidFill>
                <a:latin typeface="Calibri"/>
              </a:rPr>
              <a:t>▸  Bootstrap a protected-mode kernel via GRUB</a:t>
            </a:r>
          </a:p>
          <a:p>
            <a:pPr>
              <a:lnSpc>
                <a:spcPct val="108000"/>
              </a:lnSpc>
              <a:spcAft>
                <a:spcPts val="800"/>
              </a:spcAft>
            </a:pPr>
            <a:r>
              <a:rPr sz="1450">
                <a:solidFill>
                  <a:srgbClr val="F2F2F2"/>
                </a:solidFill>
                <a:latin typeface="Calibri"/>
              </a:rPr>
              <a:t>▸  Interrupts: IDT, CPU exceptions, PIC, PIT</a:t>
            </a:r>
          </a:p>
          <a:p>
            <a:pPr>
              <a:lnSpc>
                <a:spcPct val="108000"/>
              </a:lnSpc>
              <a:spcAft>
                <a:spcPts val="800"/>
              </a:spcAft>
            </a:pPr>
            <a:r>
              <a:rPr sz="1450">
                <a:solidFill>
                  <a:srgbClr val="F2F2F2"/>
                </a:solidFill>
                <a:latin typeface="Calibri"/>
              </a:rPr>
              <a:t>▸  Core drivers: keyboard, VGA/framebuffer console, serial</a:t>
            </a:r>
          </a:p>
          <a:p>
            <a:pPr>
              <a:lnSpc>
                <a:spcPct val="108000"/>
              </a:lnSpc>
              <a:spcAft>
                <a:spcPts val="800"/>
              </a:spcAft>
            </a:pPr>
            <a:r>
              <a:rPr sz="1450">
                <a:solidFill>
                  <a:srgbClr val="F2F2F2"/>
                </a:solidFill>
                <a:latin typeface="Calibri"/>
              </a:rPr>
              <a:t>▸  Memory management: physical allocator, paging, kernel heap</a:t>
            </a:r>
          </a:p>
          <a:p>
            <a:pPr>
              <a:lnSpc>
                <a:spcPct val="108000"/>
              </a:lnSpc>
              <a:spcAft>
                <a:spcPts val="800"/>
              </a:spcAft>
            </a:pPr>
            <a:r>
              <a:rPr sz="1450">
                <a:solidFill>
                  <a:srgbClr val="F2F2F2"/>
                </a:solidFill>
                <a:latin typeface="Calibri"/>
              </a:rPr>
              <a:t>▸  A usable interactive shell with live diagnostics</a:t>
            </a:r>
          </a:p>
          <a:p>
            <a:pPr>
              <a:lnSpc>
                <a:spcPct val="108000"/>
              </a:lnSpc>
              <a:spcAft>
                <a:spcPts val="800"/>
              </a:spcAft>
            </a:pPr>
            <a:r>
              <a:rPr sz="1450">
                <a:solidFill>
                  <a:srgbClr val="F2F2F2"/>
                </a:solidFill>
                <a:latin typeface="Calibri"/>
              </a:rPr>
              <a:t>▸  Read-only FAT32 storage and a first GUI preview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SYSTEM DESIGN</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Toolchain and Boot-Time Architecture</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5</a:t>
            </a:r>
          </a:p>
        </p:txBody>
      </p:sp>
      <p:sp>
        <p:nvSpPr>
          <p:cNvPr id="8" name="Rounded Rectangle 7"/>
          <p:cNvSpPr/>
          <p:nvPr/>
        </p:nvSpPr>
        <p:spPr>
          <a:xfrm>
            <a:off x="64008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Toolchain</a:t>
            </a:r>
          </a:p>
          <a:p>
            <a:pPr>
              <a:spcBef>
                <a:spcPts val="400"/>
              </a:spcBef>
            </a:pPr>
            <a:r>
              <a:rPr sz="1450">
                <a:solidFill>
                  <a:srgbClr val="F2F2F2"/>
                </a:solidFill>
              </a:rPr>
              <a:t>NASM — assembler (ELF32)</a:t>
            </a:r>
          </a:p>
          <a:p>
            <a:pPr>
              <a:spcBef>
                <a:spcPts val="400"/>
              </a:spcBef>
            </a:pPr>
            <a:r>
              <a:rPr sz="1450">
                <a:solidFill>
                  <a:srgbClr val="F2F2F2"/>
                </a:solidFill>
              </a:rPr>
              <a:t>GCC — freestanding 32-bit build</a:t>
            </a:r>
          </a:p>
          <a:p>
            <a:pPr>
              <a:spcBef>
                <a:spcPts val="400"/>
              </a:spcBef>
            </a:pPr>
            <a:r>
              <a:rPr sz="1450">
                <a:solidFill>
                  <a:srgbClr val="F2F2F2"/>
                </a:solidFill>
              </a:rPr>
              <a:t>GNU ld — custom linker script</a:t>
            </a:r>
          </a:p>
          <a:p>
            <a:pPr>
              <a:spcBef>
                <a:spcPts val="400"/>
              </a:spcBef>
            </a:pPr>
            <a:r>
              <a:rPr sz="1450">
                <a:solidFill>
                  <a:srgbClr val="F2F2F2"/>
                </a:solidFill>
              </a:rPr>
              <a:t>GRUB — Multiboot 1 bootloader</a:t>
            </a:r>
          </a:p>
          <a:p>
            <a:pPr>
              <a:spcBef>
                <a:spcPts val="400"/>
              </a:spcBef>
            </a:pPr>
            <a:r>
              <a:rPr sz="1450">
                <a:solidFill>
                  <a:srgbClr val="F2F2F2"/>
                </a:solidFill>
              </a:rPr>
              <a:t>grub-mkrescue — BIOS + UEFI ISO</a:t>
            </a:r>
          </a:p>
          <a:p>
            <a:pPr>
              <a:spcBef>
                <a:spcPts val="400"/>
              </a:spcBef>
            </a:pPr>
            <a:r>
              <a:rPr sz="1450">
                <a:solidFill>
                  <a:srgbClr val="F2F2F2"/>
                </a:solidFill>
              </a:rPr>
              <a:t>QEMU — qemu-system-i386</a:t>
            </a:r>
          </a:p>
          <a:p>
            <a:pPr>
              <a:spcBef>
                <a:spcPts val="400"/>
              </a:spcBef>
            </a:pPr>
            <a:r>
              <a:rPr sz="1450">
                <a:solidFill>
                  <a:srgbClr val="F2F2F2"/>
                </a:solidFill>
              </a:rPr>
              <a:t>GitHub Actions — CI build on every push</a:t>
            </a:r>
          </a:p>
        </p:txBody>
      </p:sp>
      <p:sp>
        <p:nvSpPr>
          <p:cNvPr id="9" name="Rounded Rectangle 8"/>
          <p:cNvSpPr/>
          <p:nvPr/>
        </p:nvSpPr>
        <p:spPr>
          <a:xfrm>
            <a:off x="630936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Boot-time layers (in order)</a:t>
            </a:r>
          </a:p>
          <a:p>
            <a:pPr>
              <a:spcBef>
                <a:spcPts val="400"/>
              </a:spcBef>
            </a:pPr>
            <a:r>
              <a:rPr sz="1450">
                <a:solidFill>
                  <a:srgbClr val="F2F2F2"/>
                </a:solidFill>
              </a:rPr>
              <a:t>GRUB (Multiboot) loads the kernel ELF</a:t>
            </a:r>
          </a:p>
          <a:p>
            <a:pPr>
              <a:spcBef>
                <a:spcPts val="400"/>
              </a:spcBef>
            </a:pPr>
            <a:r>
              <a:rPr sz="1450">
                <a:solidFill>
                  <a:srgbClr val="F2F2F2"/>
                </a:solidFill>
              </a:rPr>
              <a:t>boot.s: captures Multiboot info, loads GDT</a:t>
            </a:r>
          </a:p>
          <a:p>
            <a:pPr>
              <a:spcBef>
                <a:spcPts val="400"/>
              </a:spcBef>
            </a:pPr>
            <a:r>
              <a:rPr sz="1450">
                <a:solidFill>
                  <a:srgbClr val="F2F2F2"/>
                </a:solidFill>
              </a:rPr>
              <a:t>GDT: flat ring-0 code/data segments</a:t>
            </a:r>
          </a:p>
          <a:p>
            <a:pPr>
              <a:spcBef>
                <a:spcPts val="400"/>
              </a:spcBef>
            </a:pPr>
            <a:r>
              <a:rPr sz="1450">
                <a:solidFill>
                  <a:srgbClr val="F2F2F2"/>
                </a:solidFill>
              </a:rPr>
              <a:t>IDT/ISRs: CPU exceptions + hardware IRQs</a:t>
            </a:r>
          </a:p>
          <a:p>
            <a:pPr>
              <a:spcBef>
                <a:spcPts val="400"/>
              </a:spcBef>
            </a:pPr>
            <a:r>
              <a:rPr sz="1450">
                <a:solidFill>
                  <a:srgbClr val="F2F2F2"/>
                </a:solidFill>
              </a:rPr>
              <a:t>Drivers: PIC, PIT, keyboard, mouse, serial, ATA</a:t>
            </a:r>
          </a:p>
          <a:p>
            <a:pPr>
              <a:spcBef>
                <a:spcPts val="400"/>
              </a:spcBef>
            </a:pPr>
            <a:r>
              <a:rPr sz="1450">
                <a:solidFill>
                  <a:srgbClr val="F2F2F2"/>
                </a:solidFill>
              </a:rPr>
              <a:t>Memory management: PMM, paging, kernel heap</a:t>
            </a:r>
          </a:p>
          <a:p>
            <a:pPr>
              <a:spcBef>
                <a:spcPts val="400"/>
              </a:spcBef>
            </a:pPr>
            <a:r>
              <a:rPr sz="1450">
                <a:solidFill>
                  <a:srgbClr val="F2F2F2"/>
                </a:solidFill>
              </a:rPr>
              <a:t>Shell: line editor + command interpreter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WORK COMPLETED</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What's Working, End to End</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6</a:t>
            </a:r>
          </a:p>
        </p:txBody>
      </p:sp>
      <p:sp>
        <p:nvSpPr>
          <p:cNvPr id="8" name="TextBox 7"/>
          <p:cNvSpPr txBox="1"/>
          <p:nvPr/>
        </p:nvSpPr>
        <p:spPr>
          <a:xfrm>
            <a:off x="640080" y="1783080"/>
            <a:ext cx="10881360" cy="4206240"/>
          </a:xfrm>
          <a:prstGeom prst="rect">
            <a:avLst/>
          </a:prstGeom>
          <a:noFill/>
        </p:spPr>
        <p:txBody>
          <a:bodyPr wrap="square">
            <a:spAutoFit/>
          </a:bodyPr>
          <a:lstStyle/>
          <a:p>
            <a:pPr>
              <a:lnSpc>
                <a:spcPct val="108000"/>
              </a:lnSpc>
              <a:spcAft>
                <a:spcPts val="1200"/>
              </a:spcAft>
            </a:pPr>
            <a:r>
              <a:rPr sz="1700">
                <a:solidFill>
                  <a:srgbClr val="F2F2F2"/>
                </a:solidFill>
                <a:latin typeface="Calibri"/>
              </a:rPr>
              <a:t>▸  Boot &amp; protected mode: multiboot handshake, flat GDT, kernel entry</a:t>
            </a:r>
          </a:p>
          <a:p>
            <a:pPr>
              <a:lnSpc>
                <a:spcPct val="108000"/>
              </a:lnSpc>
              <a:spcAft>
                <a:spcPts val="1200"/>
              </a:spcAft>
            </a:pPr>
            <a:r>
              <a:rPr sz="1700">
                <a:solidFill>
                  <a:srgbClr val="F2F2F2"/>
                </a:solidFill>
                <a:latin typeface="Calibri"/>
              </a:rPr>
              <a:t>▸  Interrupts &amp; exceptions: 256-entry IDT, all 32 CPU exceptions decoded and reported by name</a:t>
            </a:r>
          </a:p>
          <a:p>
            <a:pPr>
              <a:lnSpc>
                <a:spcPct val="108000"/>
              </a:lnSpc>
              <a:spcAft>
                <a:spcPts val="1200"/>
              </a:spcAft>
            </a:pPr>
            <a:r>
              <a:rPr sz="1700">
                <a:solidFill>
                  <a:srgbClr val="F2F2F2"/>
                </a:solidFill>
                <a:latin typeface="Calibri"/>
              </a:rPr>
              <a:t>▸  Drivers: PS/2 keyboard, serial UART, PS/2 mouse, ATA (PIO)</a:t>
            </a:r>
          </a:p>
          <a:p>
            <a:pPr>
              <a:lnSpc>
                <a:spcPct val="108000"/>
              </a:lnSpc>
              <a:spcAft>
                <a:spcPts val="1200"/>
              </a:spcAft>
            </a:pPr>
            <a:r>
              <a:rPr sz="1700">
                <a:solidFill>
                  <a:srgbClr val="F2F2F2"/>
                </a:solidFill>
                <a:latin typeface="Calibri"/>
              </a:rPr>
              <a:t>▸  Memory management: physical frame allocator, paging (identity-mapped), kernel heap (kmalloc/kfree)</a:t>
            </a:r>
          </a:p>
          <a:p>
            <a:pPr>
              <a:lnSpc>
                <a:spcPct val="108000"/>
              </a:lnSpc>
              <a:spcAft>
                <a:spcPts val="1200"/>
              </a:spcAft>
            </a:pPr>
            <a:r>
              <a:rPr sz="1700">
                <a:solidFill>
                  <a:srgbClr val="F2F2F2"/>
                </a:solidFill>
                <a:latin typeface="Calibri"/>
              </a:rPr>
              <a:t>▸  Interactive shell: line editor, plus live diagnostics (meminfo, cpuinfo, date, crash)</a:t>
            </a:r>
          </a:p>
          <a:p>
            <a:pPr>
              <a:lnSpc>
                <a:spcPct val="108000"/>
              </a:lnSpc>
              <a:spcAft>
                <a:spcPts val="1200"/>
              </a:spcAft>
            </a:pPr>
            <a:r>
              <a:rPr sz="1700">
                <a:solidFill>
                  <a:srgbClr val="F2F2F2"/>
                </a:solidFill>
                <a:latin typeface="Calibri"/>
              </a:rPr>
              <a:t>▸  Storage: read-only FAT32 filesystem — ls / cd / cat on a real disk image</a:t>
            </a:r>
          </a:p>
          <a:p>
            <a:pPr>
              <a:lnSpc>
                <a:spcPct val="108000"/>
              </a:lnSpc>
              <a:spcAft>
                <a:spcPts val="1200"/>
              </a:spcAft>
            </a:pPr>
            <a:r>
              <a:rPr sz="1700">
                <a:solidFill>
                  <a:srgbClr val="F2F2F2"/>
                </a:solidFill>
                <a:latin typeface="Calibri"/>
              </a:rPr>
              <a:t>▸  Graphics: linear framebuffer, bitmap font console, and a first GUI preview with a live mouse cursor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SECTION 5.1 – 5.2</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Boot Sequence and Interrupt Handling</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7</a:t>
            </a:r>
          </a:p>
        </p:txBody>
      </p:sp>
      <p:sp>
        <p:nvSpPr>
          <p:cNvPr id="8" name="Rounded Rectangle 7"/>
          <p:cNvSpPr/>
          <p:nvPr/>
        </p:nvSpPr>
        <p:spPr>
          <a:xfrm>
            <a:off x="64008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Boot &amp; Protected Mode</a:t>
            </a:r>
          </a:p>
          <a:p>
            <a:pPr>
              <a:spcBef>
                <a:spcPts val="400"/>
              </a:spcBef>
            </a:pPr>
            <a:r>
              <a:rPr sz="1350">
                <a:solidFill>
                  <a:srgbClr val="F2F2F2"/>
                </a:solidFill>
              </a:rPr>
              <a:t>Multiboot 1 header requests a framebuffer</a:t>
            </a:r>
          </a:p>
          <a:p>
            <a:pPr>
              <a:spcBef>
                <a:spcPts val="400"/>
              </a:spcBef>
            </a:pPr>
            <a:r>
              <a:rPr sz="1350">
                <a:solidFill>
                  <a:srgbClr val="F2F2F2"/>
                </a:solidFill>
              </a:rPr>
              <a:t>boot.s captures EAX/EBX (magic + info ptr)</a:t>
            </a:r>
          </a:p>
          <a:p>
            <a:pPr>
              <a:spcBef>
                <a:spcPts val="400"/>
              </a:spcBef>
            </a:pPr>
            <a:r>
              <a:rPr sz="1350">
                <a:solidFill>
                  <a:srgbClr val="F2F2F2"/>
                </a:solidFill>
              </a:rPr>
              <a:t>load_gdt installs a flat ring-0 GDT</a:t>
            </a:r>
          </a:p>
          <a:p>
            <a:pPr>
              <a:spcBef>
                <a:spcPts val="400"/>
              </a:spcBef>
            </a:pPr>
            <a:r>
              <a:rPr sz="1350">
                <a:solidFill>
                  <a:srgbClr val="F2F2F2"/>
                </a:solidFill>
              </a:rPr>
              <a:t>Kernel stack set up, kernel_main() called</a:t>
            </a:r>
          </a:p>
        </p:txBody>
      </p:sp>
      <p:sp>
        <p:nvSpPr>
          <p:cNvPr id="9" name="Rounded Rectangle 8"/>
          <p:cNvSpPr/>
          <p:nvPr/>
        </p:nvSpPr>
        <p:spPr>
          <a:xfrm>
            <a:off x="630936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Interrupts &amp; Exceptions</a:t>
            </a:r>
          </a:p>
          <a:p>
            <a:pPr>
              <a:spcBef>
                <a:spcPts val="400"/>
              </a:spcBef>
            </a:pPr>
            <a:r>
              <a:rPr sz="1350">
                <a:solidFill>
                  <a:srgbClr val="F2F2F2"/>
                </a:solidFill>
              </a:rPr>
              <a:t>256-entry IDT, default handler on every gate</a:t>
            </a:r>
          </a:p>
          <a:p>
            <a:pPr>
              <a:spcBef>
                <a:spcPts val="400"/>
              </a:spcBef>
            </a:pPr>
            <a:r>
              <a:rPr sz="1350">
                <a:solidFill>
                  <a:srgbClr val="F2F2F2"/>
                </a:solidFill>
              </a:rPr>
              <a:t>All 32 CPU exceptions decoded + reported by name</a:t>
            </a:r>
          </a:p>
          <a:p>
            <a:pPr>
              <a:spcBef>
                <a:spcPts val="400"/>
              </a:spcBef>
            </a:pPr>
            <a:r>
              <a:rPr sz="1350">
                <a:solidFill>
                  <a:srgbClr val="F2F2F2"/>
                </a:solidFill>
              </a:rPr>
              <a:t>PIC remapped off conflicting BIOS vectors</a:t>
            </a:r>
          </a:p>
          <a:p>
            <a:pPr>
              <a:spcBef>
                <a:spcPts val="400"/>
              </a:spcBef>
            </a:pPr>
            <a:r>
              <a:rPr sz="1350">
                <a:solidFill>
                  <a:srgbClr val="F2F2F2"/>
                </a:solidFill>
              </a:rPr>
              <a:t>PIT programmed to a 100 Hz tick</a:t>
            </a:r>
          </a:p>
          <a:p>
            <a:pPr>
              <a:spcBef>
                <a:spcPts val="400"/>
              </a:spcBef>
            </a:pPr>
            <a:r>
              <a:rPr sz="1350">
                <a:solidFill>
                  <a:srgbClr val="F2F2F2"/>
                </a:solidFill>
              </a:rPr>
              <a:t>Proven live via the shell's crash command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SECTION 5.3 – 5.4</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Device Drivers and Debug Output</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8</a:t>
            </a:r>
          </a:p>
        </p:txBody>
      </p:sp>
      <p:sp>
        <p:nvSpPr>
          <p:cNvPr id="8" name="Rounded Rectangle 7"/>
          <p:cNvSpPr/>
          <p:nvPr/>
        </p:nvSpPr>
        <p:spPr>
          <a:xfrm>
            <a:off x="640080" y="1783080"/>
            <a:ext cx="33832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Input</a:t>
            </a:r>
          </a:p>
          <a:p>
            <a:pPr>
              <a:spcBef>
                <a:spcPts val="400"/>
              </a:spcBef>
            </a:pPr>
            <a:r>
              <a:rPr sz="1350">
                <a:solidFill>
                  <a:srgbClr val="F2F2F2"/>
                </a:solidFill>
              </a:rPr>
              <a:t>PS/2 keyboard: scancode → ASCII</a:t>
            </a:r>
          </a:p>
          <a:p>
            <a:pPr>
              <a:spcBef>
                <a:spcPts val="400"/>
              </a:spcBef>
            </a:pPr>
            <a:r>
              <a:rPr sz="1350">
                <a:solidFill>
                  <a:srgbClr val="F2F2F2"/>
                </a:solidFill>
              </a:rPr>
              <a:t>Shift / caps-lock tracking</a:t>
            </a:r>
          </a:p>
          <a:p>
            <a:pPr>
              <a:spcBef>
                <a:spcPts val="400"/>
              </a:spcBef>
            </a:pPr>
            <a:r>
              <a:rPr sz="1350">
                <a:solidFill>
                  <a:srgbClr val="F2F2F2"/>
                </a:solidFill>
              </a:rPr>
              <a:t>Ring-buffer input queue</a:t>
            </a:r>
          </a:p>
          <a:p>
            <a:pPr>
              <a:spcBef>
                <a:spcPts val="400"/>
              </a:spcBef>
            </a:pPr>
            <a:r>
              <a:rPr sz="1350">
                <a:solidFill>
                  <a:srgbClr val="F2F2F2"/>
                </a:solidFill>
              </a:rPr>
              <a:t>PS/2 mouse (IRQ12), 3-byte packets</a:t>
            </a:r>
          </a:p>
        </p:txBody>
      </p:sp>
      <p:sp>
        <p:nvSpPr>
          <p:cNvPr id="9" name="Rounded Rectangle 8"/>
          <p:cNvSpPr/>
          <p:nvPr/>
        </p:nvSpPr>
        <p:spPr>
          <a:xfrm>
            <a:off x="4297680" y="1783080"/>
            <a:ext cx="33832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Output</a:t>
            </a:r>
          </a:p>
          <a:p>
            <a:pPr>
              <a:spcBef>
                <a:spcPts val="400"/>
              </a:spcBef>
            </a:pPr>
            <a:r>
              <a:rPr sz="1350">
                <a:solidFill>
                  <a:srgbClr val="F2F2F2"/>
                </a:solidFill>
              </a:rPr>
              <a:t>Framebuffer console (replaces VGA text)</a:t>
            </a:r>
          </a:p>
          <a:p>
            <a:pPr>
              <a:spcBef>
                <a:spcPts val="400"/>
              </a:spcBef>
            </a:pPr>
            <a:r>
              <a:rPr sz="1350">
                <a:solidFill>
                  <a:srgbClr val="F2F2F2"/>
                </a:solidFill>
              </a:rPr>
              <a:t>Hand-authored 5×7 bitmap font</a:t>
            </a:r>
          </a:p>
          <a:p>
            <a:pPr>
              <a:spcBef>
                <a:spcPts val="400"/>
              </a:spcBef>
            </a:pPr>
            <a:r>
              <a:rPr sz="1350">
                <a:solidFill>
                  <a:srgbClr val="F2F2F2"/>
                </a:solidFill>
              </a:rPr>
              <a:t>Serial (UART) — independent debug channel</a:t>
            </a:r>
          </a:p>
          <a:p>
            <a:pPr>
              <a:spcBef>
                <a:spcPts val="400"/>
              </a:spcBef>
            </a:pPr>
            <a:r>
              <a:rPr sz="1350">
                <a:solidFill>
                  <a:srgbClr val="F2F2F2"/>
                </a:solidFill>
              </a:rPr>
              <a:t>kprintf: mirrors to console + serial</a:t>
            </a:r>
          </a:p>
        </p:txBody>
      </p:sp>
      <p:sp>
        <p:nvSpPr>
          <p:cNvPr id="10" name="Rounded Rectangle 9"/>
          <p:cNvSpPr/>
          <p:nvPr/>
        </p:nvSpPr>
        <p:spPr>
          <a:xfrm>
            <a:off x="7955279" y="1783080"/>
            <a:ext cx="356616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Why serial matters</a:t>
            </a:r>
          </a:p>
          <a:p>
            <a:pPr>
              <a:spcBef>
                <a:spcPts val="400"/>
              </a:spcBef>
            </a:pPr>
            <a:r>
              <a:rPr sz="1350">
                <a:solidFill>
                  <a:srgbClr val="F2F2F2"/>
                </a:solidFill>
              </a:rPr>
              <a:t>Works even before graphics is ready</a:t>
            </a:r>
          </a:p>
          <a:p>
            <a:pPr>
              <a:spcBef>
                <a:spcPts val="400"/>
              </a:spcBef>
            </a:pPr>
            <a:r>
              <a:rPr sz="1350">
                <a:solidFill>
                  <a:srgbClr val="F2F2F2"/>
                </a:solidFill>
              </a:rPr>
              <a:t>Full scrollback in a terminal/log file</a:t>
            </a:r>
          </a:p>
          <a:p>
            <a:pPr>
              <a:spcBef>
                <a:spcPts val="400"/>
              </a:spcBef>
            </a:pPr>
            <a:r>
              <a:rPr sz="1350">
                <a:solidFill>
                  <a:srgbClr val="F2F2F2"/>
                </a:solidFill>
              </a:rPr>
              <a:t>make run-log captures it to serial.log</a:t>
            </a:r>
          </a:p>
          <a:p>
            <a:pPr>
              <a:spcBef>
                <a:spcPts val="400"/>
              </a:spcBef>
            </a:pPr>
            <a:r>
              <a:rPr sz="1350">
                <a:solidFill>
                  <a:srgbClr val="F2F2F2"/>
                </a:solidFill>
              </a:rPr>
              <a:t>Primary tool used throughout development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SECTION 5.5, 5.8</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Interactive Shell and Live Diagnostics</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9</a:t>
            </a:r>
          </a:p>
        </p:txBody>
      </p:sp>
      <p:sp>
        <p:nvSpPr>
          <p:cNvPr id="8" name="Rounded Rectangle 7"/>
          <p:cNvSpPr/>
          <p:nvPr/>
        </p:nvSpPr>
        <p:spPr>
          <a:xfrm>
            <a:off x="64008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Shell core</a:t>
            </a:r>
          </a:p>
          <a:p>
            <a:pPr>
              <a:spcBef>
                <a:spcPts val="400"/>
              </a:spcBef>
            </a:pPr>
            <a:r>
              <a:rPr sz="1350">
                <a:solidFill>
                  <a:srgbClr val="F2F2F2"/>
                </a:solidFill>
              </a:rPr>
              <a:t>tty_readline(): blocking line editor</a:t>
            </a:r>
          </a:p>
          <a:p>
            <a:pPr>
              <a:spcBef>
                <a:spcPts val="400"/>
              </a:spcBef>
            </a:pPr>
            <a:r>
              <a:rPr sz="1350">
                <a:solidFill>
                  <a:srgbClr val="F2F2F2"/>
                </a:solidFill>
              </a:rPr>
              <a:t>Backspace, enter, printable-range handling</a:t>
            </a:r>
          </a:p>
          <a:p>
            <a:pPr>
              <a:spcBef>
                <a:spcPts val="400"/>
              </a:spcBef>
            </a:pPr>
            <a:r>
              <a:rPr sz="1350">
                <a:solidFill>
                  <a:srgbClr val="F2F2F2"/>
                </a:solidFill>
              </a:rPr>
              <a:t>help / echo &lt;text&gt; / uptime</a:t>
            </a:r>
          </a:p>
          <a:p>
            <a:pPr>
              <a:spcBef>
                <a:spcPts val="400"/>
              </a:spcBef>
            </a:pPr>
            <a:r>
              <a:rPr sz="1350">
                <a:solidFill>
                  <a:srgbClr val="F2F2F2"/>
                </a:solidFill>
              </a:rPr>
              <a:t>Simple, readable command dispatch</a:t>
            </a:r>
          </a:p>
        </p:txBody>
      </p:sp>
      <p:sp>
        <p:nvSpPr>
          <p:cNvPr id="9" name="Rounded Rectangle 8"/>
          <p:cNvSpPr/>
          <p:nvPr/>
        </p:nvSpPr>
        <p:spPr>
          <a:xfrm>
            <a:off x="630936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New: live introspection</a:t>
            </a:r>
          </a:p>
          <a:p>
            <a:pPr>
              <a:spcBef>
                <a:spcPts val="400"/>
              </a:spcBef>
            </a:pPr>
            <a:r>
              <a:rPr sz="1350">
                <a:solidFill>
                  <a:srgbClr val="F2F2F2"/>
                </a:solidFill>
              </a:rPr>
              <a:t>meminfo — live PMM + kheap usage</a:t>
            </a:r>
          </a:p>
          <a:p>
            <a:pPr>
              <a:spcBef>
                <a:spcPts val="400"/>
              </a:spcBef>
            </a:pPr>
            <a:r>
              <a:rPr sz="1350">
                <a:solidFill>
                  <a:srgbClr val="F2F2F2"/>
                </a:solidFill>
              </a:rPr>
              <a:t>cpuinfo — CPUID vendor/brand string</a:t>
            </a:r>
          </a:p>
          <a:p>
            <a:pPr>
              <a:spcBef>
                <a:spcPts val="400"/>
              </a:spcBef>
            </a:pPr>
            <a:r>
              <a:rPr sz="1350">
                <a:solidFill>
                  <a:srgbClr val="F2F2F2"/>
                </a:solidFill>
              </a:rPr>
              <a:t>date / time — CMOS RTC driver</a:t>
            </a:r>
          </a:p>
          <a:p>
            <a:pPr>
              <a:spcBef>
                <a:spcPts val="400"/>
              </a:spcBef>
            </a:pPr>
            <a:r>
              <a:rPr sz="1350">
                <a:solidFill>
                  <a:srgbClr val="F2F2F2"/>
                </a:solidFill>
              </a:rPr>
              <a:t>clear</a:t>
            </a:r>
          </a:p>
          <a:p>
            <a:pPr>
              <a:spcBef>
                <a:spcPts val="400"/>
              </a:spcBef>
            </a:pPr>
            <a:r>
              <a:rPr sz="1350">
                <a:solidFill>
                  <a:srgbClr val="F2F2F2"/>
                </a:solidFill>
              </a:rPr>
              <a:t>crash — triggers a live divide-by-zero to prove exception handling works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SECTION 5.6</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Memory Management — The Foundation</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10</a:t>
            </a:r>
          </a:p>
        </p:txBody>
      </p:sp>
      <p:sp>
        <p:nvSpPr>
          <p:cNvPr id="8" name="TextBox 7"/>
          <p:cNvSpPr txBox="1"/>
          <p:nvPr/>
        </p:nvSpPr>
        <p:spPr>
          <a:xfrm>
            <a:off x="640080" y="1691640"/>
            <a:ext cx="10789920" cy="548640"/>
          </a:xfrm>
          <a:prstGeom prst="rect">
            <a:avLst/>
          </a:prstGeom>
          <a:noFill/>
        </p:spPr>
        <p:txBody>
          <a:bodyPr wrap="square" anchor="t">
            <a:spAutoFit/>
          </a:bodyPr>
          <a:lstStyle/>
          <a:p>
            <a:pPr algn="l">
              <a:lnSpc>
                <a:spcPct val="100000"/>
              </a:lnSpc>
            </a:pPr>
            <a:r>
              <a:rPr sz="1500" b="0" i="1">
                <a:solidFill>
                  <a:srgbClr val="A9B6C2"/>
                </a:solidFill>
                <a:latin typeface="Calibri"/>
              </a:rPr>
              <a:t>Every later subsystem — multitasking, storage, graphics, networking, the browser — depends directly on this.</a:t>
            </a:r>
          </a:p>
        </p:txBody>
      </p:sp>
      <p:sp>
        <p:nvSpPr>
          <p:cNvPr id="9" name="Rounded Rectangle 8"/>
          <p:cNvSpPr/>
          <p:nvPr/>
        </p:nvSpPr>
        <p:spPr>
          <a:xfrm>
            <a:off x="640080" y="2331720"/>
            <a:ext cx="3383280" cy="365760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Multiboot Memory Map</a:t>
            </a:r>
          </a:p>
          <a:p>
            <a:pPr>
              <a:spcBef>
                <a:spcPts val="400"/>
              </a:spcBef>
            </a:pPr>
            <a:r>
              <a:rPr sz="1350">
                <a:solidFill>
                  <a:srgbClr val="F2F2F2"/>
                </a:solidFill>
              </a:rPr>
              <a:t>Parses the real BIOS memory map</a:t>
            </a:r>
          </a:p>
          <a:p>
            <a:pPr>
              <a:spcBef>
                <a:spcPts val="400"/>
              </a:spcBef>
            </a:pPr>
            <a:r>
              <a:rPr sz="1350">
                <a:solidFill>
                  <a:srgbClr val="F2F2F2"/>
                </a:solidFill>
              </a:rPr>
              <a:t>Fallback: mem_lower / mem_upper</a:t>
            </a:r>
          </a:p>
          <a:p>
            <a:pPr>
              <a:spcBef>
                <a:spcPts val="400"/>
              </a:spcBef>
            </a:pPr>
            <a:r>
              <a:rPr sz="1350">
                <a:solidFill>
                  <a:srgbClr val="F2F2F2"/>
                </a:solidFill>
              </a:rPr>
              <a:t>Last resort: guessed 16 MB</a:t>
            </a:r>
          </a:p>
        </p:txBody>
      </p:sp>
      <p:sp>
        <p:nvSpPr>
          <p:cNvPr id="10" name="Rounded Rectangle 9"/>
          <p:cNvSpPr/>
          <p:nvPr/>
        </p:nvSpPr>
        <p:spPr>
          <a:xfrm>
            <a:off x="4297680" y="2331720"/>
            <a:ext cx="3383280" cy="365760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Physical Allocator (PMM)</a:t>
            </a:r>
          </a:p>
          <a:p>
            <a:pPr>
              <a:spcBef>
                <a:spcPts val="400"/>
              </a:spcBef>
            </a:pPr>
            <a:r>
              <a:rPr sz="1350">
                <a:solidFill>
                  <a:srgbClr val="F2F2F2"/>
                </a:solidFill>
              </a:rPr>
              <a:t>Bitmap allocator, one bit / 4 KB frame</a:t>
            </a:r>
          </a:p>
          <a:p>
            <a:pPr>
              <a:spcBef>
                <a:spcPts val="400"/>
              </a:spcBef>
            </a:pPr>
            <a:r>
              <a:rPr sz="1350">
                <a:solidFill>
                  <a:srgbClr val="F2F2F2"/>
                </a:solidFill>
              </a:rPr>
              <a:t>Reserves first 1 MB + kernel image</a:t>
            </a:r>
          </a:p>
          <a:p>
            <a:pPr>
              <a:spcBef>
                <a:spcPts val="400"/>
              </a:spcBef>
            </a:pPr>
            <a:r>
              <a:rPr sz="1350">
                <a:solidFill>
                  <a:srgbClr val="F2F2F2"/>
                </a:solidFill>
              </a:rPr>
              <a:t>kernel_start/kernel_end from the linker</a:t>
            </a:r>
          </a:p>
        </p:txBody>
      </p:sp>
      <p:sp>
        <p:nvSpPr>
          <p:cNvPr id="11" name="Rounded Rectangle 10"/>
          <p:cNvSpPr/>
          <p:nvPr/>
        </p:nvSpPr>
        <p:spPr>
          <a:xfrm>
            <a:off x="7955279" y="2331720"/>
            <a:ext cx="3566160" cy="365760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Paging + Kernel Heap</a:t>
            </a:r>
          </a:p>
          <a:p>
            <a:pPr>
              <a:spcBef>
                <a:spcPts val="400"/>
              </a:spcBef>
            </a:pPr>
            <a:r>
              <a:rPr sz="1350">
                <a:solidFill>
                  <a:srgbClr val="F2F2F2"/>
                </a:solidFill>
              </a:rPr>
              <a:t>Full identity map, CR3/CR0.PG enabled</a:t>
            </a:r>
          </a:p>
          <a:p>
            <a:pPr>
              <a:spcBef>
                <a:spcPts val="400"/>
              </a:spcBef>
            </a:pPr>
            <a:r>
              <a:rPr sz="1350">
                <a:solidFill>
                  <a:srgbClr val="F2F2F2"/>
                </a:solidFill>
              </a:rPr>
              <a:t>paging_map(): reusable mapping primitive</a:t>
            </a:r>
          </a:p>
          <a:p>
            <a:pPr>
              <a:spcBef>
                <a:spcPts val="400"/>
              </a:spcBef>
            </a:pPr>
            <a:r>
              <a:rPr sz="1350">
                <a:solidFill>
                  <a:srgbClr val="F2F2F2"/>
                </a:solidFill>
              </a:rPr>
              <a:t>kmalloc/kfree: first-fit, coalescing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SECTION 5.9</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Storage: ATA Driver + Read-Only FAT32</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11</a:t>
            </a:r>
          </a:p>
        </p:txBody>
      </p:sp>
      <p:sp>
        <p:nvSpPr>
          <p:cNvPr id="8" name="Rounded Rectangle 7"/>
          <p:cNvSpPr/>
          <p:nvPr/>
        </p:nvSpPr>
        <p:spPr>
          <a:xfrm>
            <a:off x="64008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ATA PIO Driver</a:t>
            </a:r>
          </a:p>
          <a:p>
            <a:pPr>
              <a:spcBef>
                <a:spcPts val="400"/>
              </a:spcBef>
            </a:pPr>
            <a:r>
              <a:rPr sz="1350">
                <a:solidFill>
                  <a:srgbClr val="F2F2F2"/>
                </a:solidFill>
              </a:rPr>
              <a:t>LBA28, primary bus, master drive</a:t>
            </a:r>
          </a:p>
          <a:p>
            <a:pPr>
              <a:spcBef>
                <a:spcPts val="400"/>
              </a:spcBef>
            </a:pPr>
            <a:r>
              <a:rPr sz="1350">
                <a:solidFill>
                  <a:srgbClr val="F2F2F2"/>
                </a:solidFill>
              </a:rPr>
              <a:t>Polls BSY/DRQ status, 16-bit PIO reads</a:t>
            </a:r>
          </a:p>
          <a:p>
            <a:pPr>
              <a:spcBef>
                <a:spcPts val="400"/>
              </a:spcBef>
            </a:pPr>
            <a:r>
              <a:rPr sz="1350">
                <a:solidFill>
                  <a:srgbClr val="F2F2F2"/>
                </a:solidFill>
              </a:rPr>
              <a:t>First disk access the kernel has ever had</a:t>
            </a:r>
          </a:p>
        </p:txBody>
      </p:sp>
      <p:sp>
        <p:nvSpPr>
          <p:cNvPr id="9" name="Rounded Rectangle 8"/>
          <p:cNvSpPr/>
          <p:nvPr/>
        </p:nvSpPr>
        <p:spPr>
          <a:xfrm>
            <a:off x="630936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FAT32 (read-only)</a:t>
            </a:r>
          </a:p>
          <a:p>
            <a:pPr>
              <a:spcBef>
                <a:spcPts val="400"/>
              </a:spcBef>
            </a:pPr>
            <a:r>
              <a:rPr sz="1350">
                <a:solidFill>
                  <a:srgbClr val="F2F2F2"/>
                </a:solidFill>
              </a:rPr>
              <a:t>BPB parsing + FAT cluster-chain walking</a:t>
            </a:r>
          </a:p>
          <a:p>
            <a:pPr>
              <a:spcBef>
                <a:spcPts val="400"/>
              </a:spcBef>
            </a:pPr>
            <a:r>
              <a:rPr sz="1350">
                <a:solidFill>
                  <a:srgbClr val="F2F2F2"/>
                </a:solidFill>
              </a:rPr>
              <a:t>Root directory = a cluster chain, like any dir</a:t>
            </a:r>
          </a:p>
          <a:p>
            <a:pPr>
              <a:spcBef>
                <a:spcPts val="400"/>
              </a:spcBef>
            </a:pPr>
            <a:r>
              <a:rPr sz="1350">
                <a:solidFill>
                  <a:srgbClr val="F2F2F2"/>
                </a:solidFill>
              </a:rPr>
              <a:t>VFAT long-filename entries safely skipped</a:t>
            </a:r>
          </a:p>
          <a:p>
            <a:pPr>
              <a:spcBef>
                <a:spcPts val="400"/>
              </a:spcBef>
            </a:pPr>
            <a:r>
              <a:rPr sz="1350">
                <a:solidFill>
                  <a:srgbClr val="F2F2F2"/>
                </a:solidFill>
              </a:rPr>
              <a:t>ls / cd &lt;dir&gt; / cat &lt;file&gt; in the shell</a:t>
            </a:r>
          </a:p>
          <a:p>
            <a:pPr>
              <a:spcBef>
                <a:spcPts val="400"/>
              </a:spcBef>
            </a:pPr>
            <a:r>
              <a:rPr sz="1350">
                <a:solidFill>
                  <a:srgbClr val="F2F2F2"/>
                </a:solidFill>
              </a:rPr>
              <a:t>Write support: a controlled Review 2 follow-up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SECTION 5.10</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Graphics: Framebuffer, Font, and a GUI Preview</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12</a:t>
            </a:r>
          </a:p>
        </p:txBody>
      </p:sp>
      <p:sp>
        <p:nvSpPr>
          <p:cNvPr id="8" name="Rounded Rectangle 7"/>
          <p:cNvSpPr/>
          <p:nvPr/>
        </p:nvSpPr>
        <p:spPr>
          <a:xfrm>
            <a:off x="64008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Framebuffer + Console</a:t>
            </a:r>
          </a:p>
          <a:p>
            <a:pPr>
              <a:spcBef>
                <a:spcPts val="400"/>
              </a:spcBef>
            </a:pPr>
            <a:r>
              <a:rPr sz="1350">
                <a:solidFill>
                  <a:srgbClr val="F2F2F2"/>
                </a:solidFill>
              </a:rPr>
              <a:t>Multiboot video-mode request; GRUB negotiates it</a:t>
            </a:r>
          </a:p>
          <a:p>
            <a:pPr>
              <a:spcBef>
                <a:spcPts val="400"/>
              </a:spcBef>
            </a:pPr>
            <a:r>
              <a:rPr sz="1350">
                <a:solidFill>
                  <a:srgbClr val="F2F2F2"/>
                </a:solidFill>
              </a:rPr>
              <a:t>gfx.c: pixel / rect / char / string primitives</a:t>
            </a:r>
          </a:p>
          <a:p>
            <a:pPr>
              <a:spcBef>
                <a:spcPts val="400"/>
              </a:spcBef>
            </a:pPr>
            <a:r>
              <a:rPr sz="1350">
                <a:solidFill>
                  <a:srgbClr val="F2F2F2"/>
                </a:solidFill>
              </a:rPr>
              <a:t>Hand-authored 5×7 bitmap font (upper + lower case)</a:t>
            </a:r>
          </a:p>
          <a:p>
            <a:pPr>
              <a:spcBef>
                <a:spcPts val="400"/>
              </a:spcBef>
            </a:pPr>
            <a:r>
              <a:rPr sz="1350">
                <a:solidFill>
                  <a:srgbClr val="F2F2F2"/>
                </a:solidFill>
              </a:rPr>
              <a:t>console.c backend rewritten — same public API</a:t>
            </a:r>
          </a:p>
          <a:p>
            <a:pPr>
              <a:spcBef>
                <a:spcPts val="400"/>
              </a:spcBef>
            </a:pPr>
            <a:r>
              <a:rPr sz="1350">
                <a:solidFill>
                  <a:srgbClr val="F2F2F2"/>
                </a:solidFill>
              </a:rPr>
              <a:t>kprintf/shell/exceptions needed zero changes</a:t>
            </a:r>
          </a:p>
        </p:txBody>
      </p:sp>
      <p:sp>
        <p:nvSpPr>
          <p:cNvPr id="9" name="Rounded Rectangle 8"/>
          <p:cNvSpPr/>
          <p:nvPr/>
        </p:nvSpPr>
        <p:spPr>
          <a:xfrm>
            <a:off x="6309360" y="1783080"/>
            <a:ext cx="5212080" cy="4206240"/>
          </a:xfrm>
          <a:prstGeom prst="roundRect">
            <a:avLst>
              <a:gd name="adj" fmla="val 6000"/>
            </a:avLst>
          </a:prstGeom>
          <a:solidFill>
            <a:srgbClr val="243242"/>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ctr"/>
          <a:lstStyle/>
          <a:p>
            <a:pPr algn="ctr"/>
            <a:r>
              <a:rPr sz="1600" b="1">
                <a:solidFill>
                  <a:srgbClr val="FFD800"/>
                </a:solidFill>
              </a:rPr>
              <a:t>GUI Preview (gui command)</a:t>
            </a:r>
          </a:p>
          <a:p>
            <a:pPr>
              <a:spcBef>
                <a:spcPts val="400"/>
              </a:spcBef>
            </a:pPr>
            <a:r>
              <a:rPr sz="1350">
                <a:solidFill>
                  <a:srgbClr val="F2F2F2"/>
                </a:solidFill>
              </a:rPr>
              <a:t>Static desktop scene: taskbar + 2 window panels</a:t>
            </a:r>
          </a:p>
          <a:p>
            <a:pPr>
              <a:spcBef>
                <a:spcPts val="400"/>
              </a:spcBef>
            </a:pPr>
            <a:r>
              <a:rPr sz="1350">
                <a:solidFill>
                  <a:srgbClr val="F2F2F2"/>
                </a:solidFill>
              </a:rPr>
              <a:t>Live PS/2 mouse cursor, accurately tracked</a:t>
            </a:r>
          </a:p>
          <a:p>
            <a:pPr>
              <a:spcBef>
                <a:spcPts val="400"/>
              </a:spcBef>
            </a:pPr>
            <a:r>
              <a:rPr sz="1350">
                <a:solidFill>
                  <a:srgbClr val="F2F2F2"/>
                </a:solidFill>
              </a:rPr>
              <a:t>Save/restore-under-cursor redraw (no corruption)</a:t>
            </a:r>
          </a:p>
          <a:p>
            <a:pPr>
              <a:spcBef>
                <a:spcPts val="400"/>
              </a:spcBef>
            </a:pPr>
            <a:r>
              <a:rPr sz="1350">
                <a:solidFill>
                  <a:srgbClr val="F2F2F2"/>
                </a:solidFill>
              </a:rPr>
              <a:t>ESC returns cleanly to the text shell</a:t>
            </a:r>
          </a:p>
          <a:p>
            <a:pPr>
              <a:spcBef>
                <a:spcPts val="400"/>
              </a:spcBef>
            </a:pPr>
            <a:r>
              <a:rPr sz="1350">
                <a:solidFill>
                  <a:srgbClr val="F2F2F2"/>
                </a:solidFill>
              </a:rPr>
              <a:t>Foundation for Review 2/3's window manager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dirty="0">
                <a:solidFill>
                  <a:srgbClr val="FFD800"/>
                </a:solidFill>
                <a:latin typeface="Calibri"/>
              </a:rPr>
              <a:t>DEMO</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dirty="0">
                <a:solidFill>
                  <a:srgbClr val="F2F2F2"/>
                </a:solidFill>
                <a:latin typeface="Calibri"/>
              </a:rPr>
              <a:t>Screenshots — Boot, Shell, Diagnostics</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13</a:t>
            </a:r>
          </a:p>
        </p:txBody>
      </p:sp>
      <p:sp>
        <p:nvSpPr>
          <p:cNvPr id="9" name="TextBox 8"/>
          <p:cNvSpPr txBox="1"/>
          <p:nvPr/>
        </p:nvSpPr>
        <p:spPr>
          <a:xfrm>
            <a:off x="3964260" y="6214741"/>
            <a:ext cx="3246120" cy="320040"/>
          </a:xfrm>
          <a:prstGeom prst="rect">
            <a:avLst/>
          </a:prstGeom>
          <a:noFill/>
        </p:spPr>
        <p:txBody>
          <a:bodyPr wrap="square" anchor="t">
            <a:spAutoFit/>
          </a:bodyPr>
          <a:lstStyle/>
          <a:p>
            <a:pPr algn="ctr">
              <a:lnSpc>
                <a:spcPct val="100000"/>
              </a:lnSpc>
            </a:pPr>
            <a:r>
              <a:rPr sz="1200" b="0" i="1" dirty="0">
                <a:solidFill>
                  <a:srgbClr val="A9B6C2"/>
                </a:solidFill>
                <a:latin typeface="Calibri"/>
              </a:rPr>
              <a:t>Fig. 1 — Boot: banner + memory-manager log</a:t>
            </a:r>
          </a:p>
        </p:txBody>
      </p:sp>
      <p:sp>
        <p:nvSpPr>
          <p:cNvPr id="10" name="Rectangle 9"/>
          <p:cNvSpPr/>
          <p:nvPr/>
        </p:nvSpPr>
        <p:spPr>
          <a:xfrm>
            <a:off x="4480560" y="1828800"/>
            <a:ext cx="3246120" cy="2286000"/>
          </a:xfrm>
          <a:prstGeom prst="rect">
            <a:avLst/>
          </a:prstGeom>
          <a:solidFill>
            <a:srgbClr val="EEEEEE"/>
          </a:solidFill>
          <a:ln w="12700">
            <a:solidFill>
              <a:srgbClr val="3A4A5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i="1">
                <a:solidFill>
                  <a:srgbClr val="888888"/>
                </a:solidFill>
              </a:rPr>
              <a:t>[ Paste screenshot here ]</a:t>
            </a:r>
          </a:p>
        </p:txBody>
      </p:sp>
      <p:sp>
        <p:nvSpPr>
          <p:cNvPr id="11" name="TextBox 10"/>
          <p:cNvSpPr txBox="1"/>
          <p:nvPr/>
        </p:nvSpPr>
        <p:spPr>
          <a:xfrm>
            <a:off x="4480560" y="4169664"/>
            <a:ext cx="3246120" cy="320040"/>
          </a:xfrm>
          <a:prstGeom prst="rect">
            <a:avLst/>
          </a:prstGeom>
          <a:noFill/>
        </p:spPr>
        <p:txBody>
          <a:bodyPr wrap="square" anchor="t">
            <a:spAutoFit/>
          </a:bodyPr>
          <a:lstStyle/>
          <a:p>
            <a:pPr algn="ctr">
              <a:lnSpc>
                <a:spcPct val="100000"/>
              </a:lnSpc>
            </a:pPr>
            <a:r>
              <a:rPr sz="1200" b="0" i="1" dirty="0">
                <a:solidFill>
                  <a:srgbClr val="A9B6C2"/>
                </a:solidFill>
                <a:latin typeface="Calibri"/>
              </a:rPr>
              <a:t>Fig. 3 — Shell session (help, echo, uptime)</a:t>
            </a:r>
          </a:p>
        </p:txBody>
      </p:sp>
      <p:pic>
        <p:nvPicPr>
          <p:cNvPr id="15" name="Picture 14">
            <a:extLst>
              <a:ext uri="{FF2B5EF4-FFF2-40B4-BE49-F238E27FC236}">
                <a16:creationId xmlns:a16="http://schemas.microsoft.com/office/drawing/2014/main" id="{3B55F410-E14A-C358-82D1-D4072237D193}"/>
              </a:ext>
            </a:extLst>
          </p:cNvPr>
          <p:cNvPicPr>
            <a:picLocks noChangeAspect="1"/>
          </p:cNvPicPr>
          <p:nvPr/>
        </p:nvPicPr>
        <p:blipFill>
          <a:blip r:embed="rId2"/>
          <a:stretch>
            <a:fillRect/>
          </a:stretch>
        </p:blipFill>
        <p:spPr>
          <a:xfrm>
            <a:off x="2531421" y="1327479"/>
            <a:ext cx="7190117" cy="482325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E30726-E10C-5928-1DAC-A2D7D9FD5DE6}"/>
              </a:ext>
            </a:extLst>
          </p:cNvPr>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dirty="0">
              <a:ln>
                <a:noFill/>
              </a:ln>
              <a:solidFill>
                <a:srgbClr val="A9B6C2"/>
              </a:solidFill>
              <a:effectLst/>
              <a:uLnTx/>
              <a:uFillTx/>
              <a:latin typeface="Calibri"/>
              <a:ea typeface="+mn-ea"/>
              <a:cs typeface="+mn-cs"/>
            </a:endParaRPr>
          </a:p>
        </p:txBody>
      </p:sp>
      <p:sp>
        <p:nvSpPr>
          <p:cNvPr id="5" name="TextBox 4">
            <a:extLst>
              <a:ext uri="{FF2B5EF4-FFF2-40B4-BE49-F238E27FC236}">
                <a16:creationId xmlns:a16="http://schemas.microsoft.com/office/drawing/2014/main" id="{2FF343C3-7FD3-BEC7-4029-1C6341DAB12C}"/>
              </a:ext>
            </a:extLst>
          </p:cNvPr>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dirty="0">
                <a:solidFill>
                  <a:srgbClr val="FFD800"/>
                </a:solidFill>
                <a:latin typeface="Calibri"/>
              </a:rPr>
              <a:t>DEMO</a:t>
            </a:r>
          </a:p>
        </p:txBody>
      </p:sp>
      <p:sp>
        <p:nvSpPr>
          <p:cNvPr id="7" name="Rectangle 6">
            <a:extLst>
              <a:ext uri="{FF2B5EF4-FFF2-40B4-BE49-F238E27FC236}">
                <a16:creationId xmlns:a16="http://schemas.microsoft.com/office/drawing/2014/main" id="{DE672894-659F-12FD-F17C-4484EBCCDC71}"/>
              </a:ext>
            </a:extLst>
          </p:cNvPr>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08647EB5-CA1F-BAD1-7884-2EC8B2564809}"/>
              </a:ext>
            </a:extLst>
          </p:cNvPr>
          <p:cNvSpPr txBox="1"/>
          <p:nvPr/>
        </p:nvSpPr>
        <p:spPr>
          <a:xfrm>
            <a:off x="3854799" y="5771073"/>
            <a:ext cx="5453101" cy="646331"/>
          </a:xfrm>
          <a:prstGeom prst="rect">
            <a:avLst/>
          </a:prstGeom>
          <a:noFill/>
        </p:spPr>
        <p:txBody>
          <a:bodyPr wrap="square" rtlCol="0">
            <a:spAutoFit/>
          </a:bodyPr>
          <a:lstStyle/>
          <a:p>
            <a:r>
              <a:rPr lang="en-US" i="1" dirty="0">
                <a:solidFill>
                  <a:srgbClr val="A9B6C2"/>
                </a:solidFill>
              </a:rPr>
              <a:t>Fig. 2 — Shell session (help, echo, uptime)</a:t>
            </a:r>
          </a:p>
          <a:p>
            <a:endParaRPr lang="en-US" dirty="0"/>
          </a:p>
        </p:txBody>
      </p:sp>
      <p:pic>
        <p:nvPicPr>
          <p:cNvPr id="14" name="Picture 13">
            <a:extLst>
              <a:ext uri="{FF2B5EF4-FFF2-40B4-BE49-F238E27FC236}">
                <a16:creationId xmlns:a16="http://schemas.microsoft.com/office/drawing/2014/main" id="{47B98081-D678-A779-C891-FF9B34AE0C7F}"/>
              </a:ext>
            </a:extLst>
          </p:cNvPr>
          <p:cNvPicPr>
            <a:picLocks noChangeAspect="1"/>
          </p:cNvPicPr>
          <p:nvPr/>
        </p:nvPicPr>
        <p:blipFill>
          <a:blip r:embed="rId2"/>
          <a:stretch>
            <a:fillRect/>
          </a:stretch>
        </p:blipFill>
        <p:spPr>
          <a:xfrm>
            <a:off x="858175" y="951631"/>
            <a:ext cx="10475343" cy="4599330"/>
          </a:xfrm>
          <a:prstGeom prst="rect">
            <a:avLst/>
          </a:prstGeom>
        </p:spPr>
      </p:pic>
    </p:spTree>
    <p:extLst>
      <p:ext uri="{BB962C8B-B14F-4D97-AF65-F5344CB8AC3E}">
        <p14:creationId xmlns:p14="http://schemas.microsoft.com/office/powerpoint/2010/main" val="1598384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A83FD-77BF-183C-31DD-F9FD35F2A1B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2A74842-4B69-EFE3-1CA7-7A9F94ACED81}"/>
              </a:ext>
            </a:extLst>
          </p:cNvPr>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dirty="0">
              <a:ln>
                <a:noFill/>
              </a:ln>
              <a:solidFill>
                <a:srgbClr val="A9B6C2"/>
              </a:solidFill>
              <a:effectLst/>
              <a:uLnTx/>
              <a:uFillTx/>
              <a:latin typeface="Calibri"/>
              <a:ea typeface="+mn-ea"/>
              <a:cs typeface="+mn-cs"/>
            </a:endParaRPr>
          </a:p>
        </p:txBody>
      </p:sp>
      <p:sp>
        <p:nvSpPr>
          <p:cNvPr id="5" name="TextBox 4">
            <a:extLst>
              <a:ext uri="{FF2B5EF4-FFF2-40B4-BE49-F238E27FC236}">
                <a16:creationId xmlns:a16="http://schemas.microsoft.com/office/drawing/2014/main" id="{B84B6120-86CA-E338-1852-0D8F2A9B6386}"/>
              </a:ext>
            </a:extLst>
          </p:cNvPr>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dirty="0">
                <a:solidFill>
                  <a:srgbClr val="FFD800"/>
                </a:solidFill>
                <a:latin typeface="Calibri"/>
              </a:rPr>
              <a:t>DEMO</a:t>
            </a:r>
          </a:p>
        </p:txBody>
      </p:sp>
      <p:sp>
        <p:nvSpPr>
          <p:cNvPr id="7" name="Rectangle 6">
            <a:extLst>
              <a:ext uri="{FF2B5EF4-FFF2-40B4-BE49-F238E27FC236}">
                <a16:creationId xmlns:a16="http://schemas.microsoft.com/office/drawing/2014/main" id="{475F954A-8345-B8AA-4114-A6A7BC2EEF54}"/>
              </a:ext>
            </a:extLst>
          </p:cNvPr>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69EE50C1-7C0B-8507-75A7-E0F5AC2FC630}"/>
              </a:ext>
            </a:extLst>
          </p:cNvPr>
          <p:cNvSpPr txBox="1"/>
          <p:nvPr/>
        </p:nvSpPr>
        <p:spPr>
          <a:xfrm>
            <a:off x="3217980" y="5710688"/>
            <a:ext cx="5453101" cy="646331"/>
          </a:xfrm>
          <a:prstGeom prst="rect">
            <a:avLst/>
          </a:prstGeom>
          <a:noFill/>
        </p:spPr>
        <p:txBody>
          <a:bodyPr wrap="square" rtlCol="0">
            <a:spAutoFit/>
          </a:bodyPr>
          <a:lstStyle/>
          <a:p>
            <a:pPr algn="ctr">
              <a:lnSpc>
                <a:spcPct val="100000"/>
              </a:lnSpc>
            </a:pPr>
            <a:r>
              <a:rPr lang="en-US" i="1" dirty="0">
                <a:solidFill>
                  <a:srgbClr val="A9B6C2"/>
                </a:solidFill>
              </a:rPr>
              <a:t>Fig. 3 — </a:t>
            </a:r>
            <a:r>
              <a:rPr lang="en-US" i="1" dirty="0" err="1">
                <a:solidFill>
                  <a:srgbClr val="A9B6C2"/>
                </a:solidFill>
              </a:rPr>
              <a:t>meminfo</a:t>
            </a:r>
            <a:r>
              <a:rPr lang="en-US" i="1" dirty="0">
                <a:solidFill>
                  <a:srgbClr val="A9B6C2"/>
                </a:solidFill>
              </a:rPr>
              <a:t> / </a:t>
            </a:r>
            <a:r>
              <a:rPr lang="en-US" i="1" dirty="0" err="1">
                <a:solidFill>
                  <a:srgbClr val="A9B6C2"/>
                </a:solidFill>
              </a:rPr>
              <a:t>cpuinfo</a:t>
            </a:r>
            <a:r>
              <a:rPr lang="en-US" i="1" dirty="0">
                <a:solidFill>
                  <a:srgbClr val="A9B6C2"/>
                </a:solidFill>
              </a:rPr>
              <a:t> / date output</a:t>
            </a:r>
          </a:p>
          <a:p>
            <a:endParaRPr lang="en-US" dirty="0"/>
          </a:p>
        </p:txBody>
      </p:sp>
      <p:pic>
        <p:nvPicPr>
          <p:cNvPr id="4" name="Picture 3">
            <a:extLst>
              <a:ext uri="{FF2B5EF4-FFF2-40B4-BE49-F238E27FC236}">
                <a16:creationId xmlns:a16="http://schemas.microsoft.com/office/drawing/2014/main" id="{4A80D603-E9C7-B61E-2DC1-289DAF9CAD8B}"/>
              </a:ext>
            </a:extLst>
          </p:cNvPr>
          <p:cNvPicPr>
            <a:picLocks noChangeAspect="1"/>
          </p:cNvPicPr>
          <p:nvPr/>
        </p:nvPicPr>
        <p:blipFill>
          <a:blip r:embed="rId2"/>
          <a:stretch>
            <a:fillRect/>
          </a:stretch>
        </p:blipFill>
        <p:spPr>
          <a:xfrm>
            <a:off x="1787531" y="944593"/>
            <a:ext cx="8314000" cy="4613407"/>
          </a:xfrm>
          <a:prstGeom prst="rect">
            <a:avLst/>
          </a:prstGeom>
        </p:spPr>
      </p:pic>
    </p:spTree>
    <p:extLst>
      <p:ext uri="{BB962C8B-B14F-4D97-AF65-F5344CB8AC3E}">
        <p14:creationId xmlns:p14="http://schemas.microsoft.com/office/powerpoint/2010/main" val="2433360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25894-CBB3-4ED0-CB84-15B7091267C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2740E2E-2A00-2768-2900-94436DD3EDC0}"/>
              </a:ext>
            </a:extLst>
          </p:cNvPr>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dirty="0">
              <a:ln>
                <a:noFill/>
              </a:ln>
              <a:solidFill>
                <a:srgbClr val="A9B6C2"/>
              </a:solidFill>
              <a:effectLst/>
              <a:uLnTx/>
              <a:uFillTx/>
              <a:latin typeface="Calibri"/>
              <a:ea typeface="+mn-ea"/>
              <a:cs typeface="+mn-cs"/>
            </a:endParaRPr>
          </a:p>
        </p:txBody>
      </p:sp>
      <p:sp>
        <p:nvSpPr>
          <p:cNvPr id="5" name="TextBox 4">
            <a:extLst>
              <a:ext uri="{FF2B5EF4-FFF2-40B4-BE49-F238E27FC236}">
                <a16:creationId xmlns:a16="http://schemas.microsoft.com/office/drawing/2014/main" id="{A5A29E14-E172-099B-2F81-7B8BBD3BC13E}"/>
              </a:ext>
            </a:extLst>
          </p:cNvPr>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dirty="0">
                <a:solidFill>
                  <a:srgbClr val="FFD800"/>
                </a:solidFill>
                <a:latin typeface="Calibri"/>
              </a:rPr>
              <a:t>DEMO</a:t>
            </a:r>
          </a:p>
        </p:txBody>
      </p:sp>
      <p:sp>
        <p:nvSpPr>
          <p:cNvPr id="7" name="Rectangle 6">
            <a:extLst>
              <a:ext uri="{FF2B5EF4-FFF2-40B4-BE49-F238E27FC236}">
                <a16:creationId xmlns:a16="http://schemas.microsoft.com/office/drawing/2014/main" id="{2070583F-2CEB-5D39-0A7A-8D06AD13AFE3}"/>
              </a:ext>
            </a:extLst>
          </p:cNvPr>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0560CBF8-1767-A450-392F-D050A5B79D4E}"/>
              </a:ext>
            </a:extLst>
          </p:cNvPr>
          <p:cNvSpPr txBox="1"/>
          <p:nvPr/>
        </p:nvSpPr>
        <p:spPr>
          <a:xfrm>
            <a:off x="3217980" y="5710688"/>
            <a:ext cx="5453101" cy="646331"/>
          </a:xfrm>
          <a:prstGeom prst="rect">
            <a:avLst/>
          </a:prstGeom>
          <a:noFill/>
        </p:spPr>
        <p:txBody>
          <a:bodyPr wrap="square" rtlCol="0">
            <a:spAutoFit/>
          </a:bodyPr>
          <a:lstStyle/>
          <a:p>
            <a:pPr algn="ctr">
              <a:lnSpc>
                <a:spcPct val="100000"/>
              </a:lnSpc>
            </a:pPr>
            <a:r>
              <a:rPr lang="en-US" i="1" dirty="0">
                <a:solidFill>
                  <a:srgbClr val="A9B6C2"/>
                </a:solidFill>
              </a:rPr>
              <a:t>Fig. 4 — ls / cat on the FAT32 disk image</a:t>
            </a:r>
          </a:p>
          <a:p>
            <a:endParaRPr lang="en-US" dirty="0"/>
          </a:p>
        </p:txBody>
      </p:sp>
      <p:pic>
        <p:nvPicPr>
          <p:cNvPr id="4" name="Picture 3">
            <a:extLst>
              <a:ext uri="{FF2B5EF4-FFF2-40B4-BE49-F238E27FC236}">
                <a16:creationId xmlns:a16="http://schemas.microsoft.com/office/drawing/2014/main" id="{8A03EA02-9158-C59E-9788-2B523FD3EE1F}"/>
              </a:ext>
            </a:extLst>
          </p:cNvPr>
          <p:cNvPicPr>
            <a:picLocks noChangeAspect="1"/>
          </p:cNvPicPr>
          <p:nvPr/>
        </p:nvPicPr>
        <p:blipFill>
          <a:blip r:embed="rId2"/>
          <a:stretch>
            <a:fillRect/>
          </a:stretch>
        </p:blipFill>
        <p:spPr>
          <a:xfrm>
            <a:off x="1787531" y="944593"/>
            <a:ext cx="8314000" cy="4613407"/>
          </a:xfrm>
          <a:prstGeom prst="rect">
            <a:avLst/>
          </a:prstGeom>
        </p:spPr>
      </p:pic>
    </p:spTree>
    <p:extLst>
      <p:ext uri="{BB962C8B-B14F-4D97-AF65-F5344CB8AC3E}">
        <p14:creationId xmlns:p14="http://schemas.microsoft.com/office/powerpoint/2010/main" val="3645276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21B9F-A71C-C244-BFC0-8D647C7D98E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F16F596-136D-302D-92E5-3112ACDC587E}"/>
              </a:ext>
            </a:extLst>
          </p:cNvPr>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dirty="0">
              <a:ln>
                <a:noFill/>
              </a:ln>
              <a:solidFill>
                <a:srgbClr val="A9B6C2"/>
              </a:solidFill>
              <a:effectLst/>
              <a:uLnTx/>
              <a:uFillTx/>
              <a:latin typeface="Calibri"/>
              <a:ea typeface="+mn-ea"/>
              <a:cs typeface="+mn-cs"/>
            </a:endParaRPr>
          </a:p>
        </p:txBody>
      </p:sp>
      <p:sp>
        <p:nvSpPr>
          <p:cNvPr id="5" name="TextBox 4">
            <a:extLst>
              <a:ext uri="{FF2B5EF4-FFF2-40B4-BE49-F238E27FC236}">
                <a16:creationId xmlns:a16="http://schemas.microsoft.com/office/drawing/2014/main" id="{B7569A28-675B-9C1D-A98B-389EA4A1BE7C}"/>
              </a:ext>
            </a:extLst>
          </p:cNvPr>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dirty="0">
                <a:solidFill>
                  <a:srgbClr val="FFD800"/>
                </a:solidFill>
                <a:latin typeface="Calibri"/>
              </a:rPr>
              <a:t>DEMO</a:t>
            </a:r>
          </a:p>
        </p:txBody>
      </p:sp>
      <p:sp>
        <p:nvSpPr>
          <p:cNvPr id="7" name="Rectangle 6">
            <a:extLst>
              <a:ext uri="{FF2B5EF4-FFF2-40B4-BE49-F238E27FC236}">
                <a16:creationId xmlns:a16="http://schemas.microsoft.com/office/drawing/2014/main" id="{AF4A7495-F1BE-9583-1053-DB14733F8C52}"/>
              </a:ext>
            </a:extLst>
          </p:cNvPr>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893A0274-03BF-4358-717C-C8C47E5D2605}"/>
              </a:ext>
            </a:extLst>
          </p:cNvPr>
          <p:cNvSpPr txBox="1"/>
          <p:nvPr/>
        </p:nvSpPr>
        <p:spPr>
          <a:xfrm>
            <a:off x="3217980" y="5710688"/>
            <a:ext cx="5453101" cy="646331"/>
          </a:xfrm>
          <a:prstGeom prst="rect">
            <a:avLst/>
          </a:prstGeom>
          <a:noFill/>
        </p:spPr>
        <p:txBody>
          <a:bodyPr wrap="square" rtlCol="0">
            <a:spAutoFit/>
          </a:bodyPr>
          <a:lstStyle/>
          <a:p>
            <a:pPr algn="ctr">
              <a:lnSpc>
                <a:spcPct val="100000"/>
              </a:lnSpc>
            </a:pPr>
            <a:r>
              <a:rPr lang="en-US" i="1" dirty="0">
                <a:solidFill>
                  <a:srgbClr val="A9B6C2"/>
                </a:solidFill>
              </a:rPr>
              <a:t>Fig. 5 — crash: exception handler live</a:t>
            </a:r>
          </a:p>
          <a:p>
            <a:endParaRPr lang="en-US" dirty="0"/>
          </a:p>
        </p:txBody>
      </p:sp>
      <p:pic>
        <p:nvPicPr>
          <p:cNvPr id="2" name="Picture 1">
            <a:extLst>
              <a:ext uri="{FF2B5EF4-FFF2-40B4-BE49-F238E27FC236}">
                <a16:creationId xmlns:a16="http://schemas.microsoft.com/office/drawing/2014/main" id="{B5B81C93-9079-2655-3835-73DB00B9D59C}"/>
              </a:ext>
            </a:extLst>
          </p:cNvPr>
          <p:cNvPicPr>
            <a:picLocks noChangeAspect="1"/>
          </p:cNvPicPr>
          <p:nvPr/>
        </p:nvPicPr>
        <p:blipFill>
          <a:blip r:embed="rId2"/>
          <a:stretch>
            <a:fillRect/>
          </a:stretch>
        </p:blipFill>
        <p:spPr>
          <a:xfrm>
            <a:off x="2246199" y="786384"/>
            <a:ext cx="6854590" cy="4924304"/>
          </a:xfrm>
          <a:prstGeom prst="rect">
            <a:avLst/>
          </a:prstGeom>
        </p:spPr>
      </p:pic>
    </p:spTree>
    <p:extLst>
      <p:ext uri="{BB962C8B-B14F-4D97-AF65-F5344CB8AC3E}">
        <p14:creationId xmlns:p14="http://schemas.microsoft.com/office/powerpoint/2010/main" val="2097477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68CD-9690-71C6-DBFE-A01F8F66E4C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715691B-393F-5AF1-ED02-569448DC82F5}"/>
              </a:ext>
            </a:extLst>
          </p:cNvPr>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dirty="0">
              <a:ln>
                <a:noFill/>
              </a:ln>
              <a:solidFill>
                <a:srgbClr val="A9B6C2"/>
              </a:solidFill>
              <a:effectLst/>
              <a:uLnTx/>
              <a:uFillTx/>
              <a:latin typeface="Calibri"/>
              <a:ea typeface="+mn-ea"/>
              <a:cs typeface="+mn-cs"/>
            </a:endParaRPr>
          </a:p>
        </p:txBody>
      </p:sp>
      <p:sp>
        <p:nvSpPr>
          <p:cNvPr id="5" name="TextBox 4">
            <a:extLst>
              <a:ext uri="{FF2B5EF4-FFF2-40B4-BE49-F238E27FC236}">
                <a16:creationId xmlns:a16="http://schemas.microsoft.com/office/drawing/2014/main" id="{0043EA81-B26E-6A14-BE73-6B9F48F93462}"/>
              </a:ext>
            </a:extLst>
          </p:cNvPr>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dirty="0">
                <a:solidFill>
                  <a:srgbClr val="FFD800"/>
                </a:solidFill>
                <a:latin typeface="Calibri"/>
              </a:rPr>
              <a:t>DEMO</a:t>
            </a:r>
          </a:p>
        </p:txBody>
      </p:sp>
      <p:sp>
        <p:nvSpPr>
          <p:cNvPr id="7" name="Rectangle 6">
            <a:extLst>
              <a:ext uri="{FF2B5EF4-FFF2-40B4-BE49-F238E27FC236}">
                <a16:creationId xmlns:a16="http://schemas.microsoft.com/office/drawing/2014/main" id="{8510133A-AB7D-258A-E326-27DDD9253EC3}"/>
              </a:ext>
            </a:extLst>
          </p:cNvPr>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79AA6E8-C3B9-8615-A5FE-D6F216D727FD}"/>
              </a:ext>
            </a:extLst>
          </p:cNvPr>
          <p:cNvSpPr txBox="1"/>
          <p:nvPr/>
        </p:nvSpPr>
        <p:spPr>
          <a:xfrm>
            <a:off x="3217980" y="5710688"/>
            <a:ext cx="5453101" cy="369332"/>
          </a:xfrm>
          <a:prstGeom prst="rect">
            <a:avLst/>
          </a:prstGeom>
          <a:noFill/>
        </p:spPr>
        <p:txBody>
          <a:bodyPr wrap="square" rtlCol="0">
            <a:spAutoFit/>
          </a:bodyPr>
          <a:lstStyle/>
          <a:p>
            <a:pPr algn="ctr">
              <a:lnSpc>
                <a:spcPct val="100000"/>
              </a:lnSpc>
            </a:pPr>
            <a:r>
              <a:rPr lang="en-US" i="1" dirty="0">
                <a:solidFill>
                  <a:srgbClr val="A9B6C2"/>
                </a:solidFill>
              </a:rPr>
              <a:t>Fig. 6 — </a:t>
            </a:r>
            <a:r>
              <a:rPr lang="en-US" i="1" dirty="0" err="1">
                <a:solidFill>
                  <a:srgbClr val="A9B6C2"/>
                </a:solidFill>
              </a:rPr>
              <a:t>gui</a:t>
            </a:r>
            <a:r>
              <a:rPr lang="en-US" i="1" dirty="0">
                <a:solidFill>
                  <a:srgbClr val="A9B6C2"/>
                </a:solidFill>
              </a:rPr>
              <a:t>: desktop preview + cursor</a:t>
            </a:r>
          </a:p>
        </p:txBody>
      </p:sp>
      <p:pic>
        <p:nvPicPr>
          <p:cNvPr id="6" name="Picture 5">
            <a:extLst>
              <a:ext uri="{FF2B5EF4-FFF2-40B4-BE49-F238E27FC236}">
                <a16:creationId xmlns:a16="http://schemas.microsoft.com/office/drawing/2014/main" id="{6D42319D-642F-656B-F201-087694860438}"/>
              </a:ext>
            </a:extLst>
          </p:cNvPr>
          <p:cNvPicPr>
            <a:picLocks noChangeAspect="1"/>
          </p:cNvPicPr>
          <p:nvPr/>
        </p:nvPicPr>
        <p:blipFill>
          <a:blip r:embed="rId2"/>
          <a:stretch>
            <a:fillRect/>
          </a:stretch>
        </p:blipFill>
        <p:spPr>
          <a:xfrm>
            <a:off x="2044460" y="731520"/>
            <a:ext cx="7461849" cy="5007176"/>
          </a:xfrm>
          <a:prstGeom prst="rect">
            <a:avLst/>
          </a:prstGeom>
        </p:spPr>
      </p:pic>
    </p:spTree>
    <p:extLst>
      <p:ext uri="{BB962C8B-B14F-4D97-AF65-F5344CB8AC3E}">
        <p14:creationId xmlns:p14="http://schemas.microsoft.com/office/powerpoint/2010/main" val="96904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STATUS</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Results and Known Limitations</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15</a:t>
            </a:r>
          </a:p>
        </p:txBody>
      </p:sp>
      <p:sp>
        <p:nvSpPr>
          <p:cNvPr id="8" name="TextBox 7"/>
          <p:cNvSpPr txBox="1"/>
          <p:nvPr/>
        </p:nvSpPr>
        <p:spPr>
          <a:xfrm>
            <a:off x="640080" y="1737360"/>
            <a:ext cx="5120640" cy="365760"/>
          </a:xfrm>
          <a:prstGeom prst="rect">
            <a:avLst/>
          </a:prstGeom>
          <a:noFill/>
        </p:spPr>
        <p:txBody>
          <a:bodyPr wrap="square" anchor="t">
            <a:spAutoFit/>
          </a:bodyPr>
          <a:lstStyle/>
          <a:p>
            <a:pPr algn="l">
              <a:lnSpc>
                <a:spcPct val="100000"/>
              </a:lnSpc>
            </a:pPr>
            <a:r>
              <a:rPr sz="1600" b="1" i="0">
                <a:solidFill>
                  <a:srgbClr val="FFD800"/>
                </a:solidFill>
                <a:latin typeface="Calibri"/>
              </a:rPr>
              <a:t>Working end-to-end</a:t>
            </a:r>
          </a:p>
        </p:txBody>
      </p:sp>
      <p:sp>
        <p:nvSpPr>
          <p:cNvPr id="9" name="TextBox 8"/>
          <p:cNvSpPr txBox="1"/>
          <p:nvPr/>
        </p:nvSpPr>
        <p:spPr>
          <a:xfrm>
            <a:off x="640080" y="2103120"/>
            <a:ext cx="5120640" cy="3840480"/>
          </a:xfrm>
          <a:prstGeom prst="rect">
            <a:avLst/>
          </a:prstGeom>
          <a:noFill/>
        </p:spPr>
        <p:txBody>
          <a:bodyPr wrap="square">
            <a:spAutoFit/>
          </a:bodyPr>
          <a:lstStyle/>
          <a:p>
            <a:pPr>
              <a:lnSpc>
                <a:spcPct val="108000"/>
              </a:lnSpc>
              <a:spcAft>
                <a:spcPts val="700"/>
              </a:spcAft>
            </a:pPr>
            <a:r>
              <a:rPr sz="1400">
                <a:solidFill>
                  <a:srgbClr val="F2F2F2"/>
                </a:solidFill>
                <a:latin typeface="Calibri"/>
              </a:rPr>
              <a:t>▸  Boots via GRUB (BIOS + UEFI) in QEMU</a:t>
            </a:r>
          </a:p>
          <a:p>
            <a:pPr>
              <a:lnSpc>
                <a:spcPct val="108000"/>
              </a:lnSpc>
              <a:spcAft>
                <a:spcPts val="700"/>
              </a:spcAft>
            </a:pPr>
            <a:r>
              <a:rPr sz="1400">
                <a:solidFill>
                  <a:srgbClr val="F2F2F2"/>
                </a:solidFill>
                <a:latin typeface="Calibri"/>
              </a:rPr>
              <a:t>▸  Exceptions caught and reported, not triple faults</a:t>
            </a:r>
          </a:p>
          <a:p>
            <a:pPr>
              <a:lnSpc>
                <a:spcPct val="108000"/>
              </a:lnSpc>
              <a:spcAft>
                <a:spcPts val="700"/>
              </a:spcAft>
            </a:pPr>
            <a:r>
              <a:rPr sz="1400">
                <a:solidFill>
                  <a:srgbClr val="F2F2F2"/>
                </a:solidFill>
                <a:latin typeface="Calibri"/>
              </a:rPr>
              <a:t>▸  Keyboard, mouse, serial, framebuffer console all live</a:t>
            </a:r>
          </a:p>
          <a:p>
            <a:pPr>
              <a:lnSpc>
                <a:spcPct val="108000"/>
              </a:lnSpc>
              <a:spcAft>
                <a:spcPts val="700"/>
              </a:spcAft>
            </a:pPr>
            <a:r>
              <a:rPr sz="1400">
                <a:solidFill>
                  <a:srgbClr val="F2F2F2"/>
                </a:solidFill>
                <a:latin typeface="Calibri"/>
              </a:rPr>
              <a:t>▸  Shell responds in real time, incl. diagnostics</a:t>
            </a:r>
          </a:p>
          <a:p>
            <a:pPr>
              <a:lnSpc>
                <a:spcPct val="108000"/>
              </a:lnSpc>
              <a:spcAft>
                <a:spcPts val="700"/>
              </a:spcAft>
            </a:pPr>
            <a:r>
              <a:rPr sz="1400">
                <a:solidFill>
                  <a:srgbClr val="F2F2F2"/>
                </a:solidFill>
                <a:latin typeface="Calibri"/>
              </a:rPr>
              <a:t>▸  FAT32 read of real files off a real disk image</a:t>
            </a:r>
          </a:p>
          <a:p>
            <a:pPr>
              <a:lnSpc>
                <a:spcPct val="108000"/>
              </a:lnSpc>
              <a:spcAft>
                <a:spcPts val="700"/>
              </a:spcAft>
            </a:pPr>
            <a:r>
              <a:rPr sz="1400">
                <a:solidFill>
                  <a:srgbClr val="F2F2F2"/>
                </a:solidFill>
                <a:latin typeface="Calibri"/>
              </a:rPr>
              <a:t>▸  GUI preview renders + tracks the mouse correctly</a:t>
            </a:r>
          </a:p>
        </p:txBody>
      </p:sp>
      <p:sp>
        <p:nvSpPr>
          <p:cNvPr id="10" name="TextBox 9"/>
          <p:cNvSpPr txBox="1"/>
          <p:nvPr/>
        </p:nvSpPr>
        <p:spPr>
          <a:xfrm>
            <a:off x="6309360" y="1737360"/>
            <a:ext cx="5120640" cy="365760"/>
          </a:xfrm>
          <a:prstGeom prst="rect">
            <a:avLst/>
          </a:prstGeom>
          <a:noFill/>
        </p:spPr>
        <p:txBody>
          <a:bodyPr wrap="square" anchor="t">
            <a:spAutoFit/>
          </a:bodyPr>
          <a:lstStyle/>
          <a:p>
            <a:pPr algn="l">
              <a:lnSpc>
                <a:spcPct val="100000"/>
              </a:lnSpc>
            </a:pPr>
            <a:r>
              <a:rPr sz="1600" b="1" i="0">
                <a:solidFill>
                  <a:srgbClr val="FFD800"/>
                </a:solidFill>
                <a:latin typeface="Calibri"/>
              </a:rPr>
              <a:t>Known limitations</a:t>
            </a:r>
          </a:p>
        </p:txBody>
      </p:sp>
      <p:sp>
        <p:nvSpPr>
          <p:cNvPr id="11" name="TextBox 10"/>
          <p:cNvSpPr txBox="1"/>
          <p:nvPr/>
        </p:nvSpPr>
        <p:spPr>
          <a:xfrm>
            <a:off x="6309360" y="2103120"/>
            <a:ext cx="5120640" cy="3840480"/>
          </a:xfrm>
          <a:prstGeom prst="rect">
            <a:avLst/>
          </a:prstGeom>
          <a:noFill/>
        </p:spPr>
        <p:txBody>
          <a:bodyPr wrap="square">
            <a:spAutoFit/>
          </a:bodyPr>
          <a:lstStyle/>
          <a:p>
            <a:pPr>
              <a:lnSpc>
                <a:spcPct val="108000"/>
              </a:lnSpc>
              <a:spcAft>
                <a:spcPts val="700"/>
              </a:spcAft>
            </a:pPr>
            <a:r>
              <a:rPr sz="1400">
                <a:solidFill>
                  <a:srgbClr val="F2F2F2"/>
                </a:solidFill>
                <a:latin typeface="Calibri"/>
              </a:rPr>
              <a:t>▸  Single flat address space, no user mode yet</a:t>
            </a:r>
          </a:p>
          <a:p>
            <a:pPr>
              <a:lnSpc>
                <a:spcPct val="108000"/>
              </a:lnSpc>
              <a:spcAft>
                <a:spcPts val="700"/>
              </a:spcAft>
            </a:pPr>
            <a:r>
              <a:rPr sz="1400">
                <a:solidFill>
                  <a:srgbClr val="F2F2F2"/>
                </a:solidFill>
                <a:latin typeface="Calibri"/>
              </a:rPr>
              <a:t>▸  No process/thread model or scheduler</a:t>
            </a:r>
          </a:p>
          <a:p>
            <a:pPr>
              <a:lnSpc>
                <a:spcPct val="108000"/>
              </a:lnSpc>
              <a:spcAft>
                <a:spcPts val="700"/>
              </a:spcAft>
            </a:pPr>
            <a:r>
              <a:rPr sz="1400">
                <a:solidFill>
                  <a:srgbClr val="F2F2F2"/>
                </a:solidFill>
                <a:latin typeface="Calibri"/>
              </a:rPr>
              <a:t>▸  FAT32 is read-only for now</a:t>
            </a:r>
          </a:p>
          <a:p>
            <a:pPr>
              <a:lnSpc>
                <a:spcPct val="108000"/>
              </a:lnSpc>
              <a:spcAft>
                <a:spcPts val="700"/>
              </a:spcAft>
            </a:pPr>
            <a:r>
              <a:rPr sz="1400">
                <a:solidFill>
                  <a:srgbClr val="F2F2F2"/>
                </a:solidFill>
                <a:latin typeface="Calibri"/>
              </a:rPr>
              <a:t>▸  GUI is static — no window dragging/clicking yet</a:t>
            </a:r>
          </a:p>
          <a:p>
            <a:pPr>
              <a:lnSpc>
                <a:spcPct val="108000"/>
              </a:lnSpc>
              <a:spcAft>
                <a:spcPts val="700"/>
              </a:spcAft>
            </a:pPr>
            <a:r>
              <a:rPr sz="1400">
                <a:solidFill>
                  <a:srgbClr val="F2F2F2"/>
                </a:solidFill>
                <a:latin typeface="Calibri"/>
              </a:rPr>
              <a:t>▸  No networking stack yet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DESIGN CONSTRAINT</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128 MB RAM — Enforced at the Software Level</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16</a:t>
            </a:r>
          </a:p>
        </p:txBody>
      </p:sp>
      <p:sp>
        <p:nvSpPr>
          <p:cNvPr id="8" name="TextBox 7"/>
          <p:cNvSpPr txBox="1"/>
          <p:nvPr/>
        </p:nvSpPr>
        <p:spPr>
          <a:xfrm>
            <a:off x="640080" y="1828800"/>
            <a:ext cx="10789920" cy="2011680"/>
          </a:xfrm>
          <a:prstGeom prst="rect">
            <a:avLst/>
          </a:prstGeom>
          <a:noFill/>
        </p:spPr>
        <p:txBody>
          <a:bodyPr wrap="square" anchor="t">
            <a:spAutoFit/>
          </a:bodyPr>
          <a:lstStyle/>
          <a:p>
            <a:pPr algn="l">
              <a:lnSpc>
                <a:spcPct val="125000"/>
              </a:lnSpc>
            </a:pPr>
            <a:r>
              <a:rPr sz="1800" b="0" i="0">
                <a:solidFill>
                  <a:srgbClr val="F2F2F2"/>
                </a:solidFill>
                <a:latin typeface="Calibri"/>
              </a:rPr>
              <a:t>HawkOS is not limited by 128 MB of physical hardware — it's a deliberate design budget the kernel is engineered to respect regardless of how much RAM is actually available. The physical memory manager already tracks and reports usage precisely for this reason, verified live with the meminfo command.</a:t>
            </a:r>
          </a:p>
        </p:txBody>
      </p:sp>
      <p:sp>
        <p:nvSpPr>
          <p:cNvPr id="9" name="TextBox 8"/>
          <p:cNvSpPr txBox="1"/>
          <p:nvPr/>
        </p:nvSpPr>
        <p:spPr>
          <a:xfrm>
            <a:off x="640080" y="3931920"/>
            <a:ext cx="10789920" cy="2103120"/>
          </a:xfrm>
          <a:prstGeom prst="rect">
            <a:avLst/>
          </a:prstGeom>
          <a:noFill/>
        </p:spPr>
        <p:txBody>
          <a:bodyPr wrap="square">
            <a:spAutoFit/>
          </a:bodyPr>
          <a:lstStyle/>
          <a:p>
            <a:pPr>
              <a:lnSpc>
                <a:spcPct val="108000"/>
              </a:lnSpc>
              <a:spcAft>
                <a:spcPts val="1000"/>
              </a:spcAft>
            </a:pPr>
            <a:r>
              <a:rPr sz="1600">
                <a:solidFill>
                  <a:srgbClr val="F2F2F2"/>
                </a:solidFill>
                <a:latin typeface="Calibri"/>
              </a:rPr>
              <a:t>▸  Kernel heap, FAT32 buffers, and the framebuffer are all sized deliberately, not left unbounded</a:t>
            </a:r>
          </a:p>
          <a:p>
            <a:pPr>
              <a:lnSpc>
                <a:spcPct val="108000"/>
              </a:lnSpc>
              <a:spcAft>
                <a:spcPts val="1000"/>
              </a:spcAft>
            </a:pPr>
            <a:r>
              <a:rPr sz="1600">
                <a:solidFill>
                  <a:srgbClr val="F2F2F2"/>
                </a:solidFill>
                <a:latin typeface="Calibri"/>
              </a:rPr>
              <a:t>▸  The network stack and browser (Review 3) will be held to the same budget</a:t>
            </a:r>
          </a:p>
          <a:p>
            <a:pPr>
              <a:lnSpc>
                <a:spcPct val="108000"/>
              </a:lnSpc>
              <a:spcAft>
                <a:spcPts val="1000"/>
              </a:spcAft>
            </a:pPr>
            <a:r>
              <a:rPr sz="1600">
                <a:solidFill>
                  <a:srgbClr val="F2F2F2"/>
                </a:solidFill>
                <a:latin typeface="Calibri"/>
              </a:rPr>
              <a:t>▸  This rules out existing browser engines (Chromium/WebKit/Gecko need hundreds of MB+) by design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FUTURE SCOPE</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Review 2 — Multitasking, Storage, and a Real Desktop</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17</a:t>
            </a:r>
          </a:p>
        </p:txBody>
      </p:sp>
      <p:sp>
        <p:nvSpPr>
          <p:cNvPr id="8" name="TextBox 7"/>
          <p:cNvSpPr txBox="1"/>
          <p:nvPr/>
        </p:nvSpPr>
        <p:spPr>
          <a:xfrm>
            <a:off x="640080" y="1828800"/>
            <a:ext cx="10789920" cy="4206240"/>
          </a:xfrm>
          <a:prstGeom prst="rect">
            <a:avLst/>
          </a:prstGeom>
          <a:noFill/>
        </p:spPr>
        <p:txBody>
          <a:bodyPr wrap="square">
            <a:spAutoFit/>
          </a:bodyPr>
          <a:lstStyle/>
          <a:p>
            <a:pPr>
              <a:lnSpc>
                <a:spcPct val="108000"/>
              </a:lnSpc>
              <a:spcAft>
                <a:spcPts val="1400"/>
              </a:spcAft>
            </a:pPr>
            <a:r>
              <a:rPr sz="1800">
                <a:solidFill>
                  <a:srgbClr val="F2F2F2"/>
                </a:solidFill>
                <a:latin typeface="Calibri"/>
              </a:rPr>
              <a:t>▸  Multitasking — process/thread model, context switching, round-robin scheduler</a:t>
            </a:r>
          </a:p>
          <a:p>
            <a:pPr>
              <a:lnSpc>
                <a:spcPct val="108000"/>
              </a:lnSpc>
              <a:spcAft>
                <a:spcPts val="1400"/>
              </a:spcAft>
            </a:pPr>
            <a:r>
              <a:rPr sz="1800">
                <a:solidFill>
                  <a:srgbClr val="F2F2F2"/>
                </a:solidFill>
                <a:latin typeface="Calibri"/>
              </a:rPr>
              <a:t>▸  User mode + syscalls — ring-3 execution and a minimal ELF loader</a:t>
            </a:r>
          </a:p>
          <a:p>
            <a:pPr>
              <a:lnSpc>
                <a:spcPct val="108000"/>
              </a:lnSpc>
              <a:spcAft>
                <a:spcPts val="1400"/>
              </a:spcAft>
            </a:pPr>
            <a:r>
              <a:rPr sz="1800">
                <a:solidFill>
                  <a:srgbClr val="F2F2F2"/>
                </a:solidFill>
                <a:latin typeface="Calibri"/>
              </a:rPr>
              <a:t>▸  FAT32 write support — cluster allocation, FAT/FSInfo updates, done carefully</a:t>
            </a:r>
          </a:p>
          <a:p>
            <a:pPr>
              <a:lnSpc>
                <a:spcPct val="108000"/>
              </a:lnSpc>
              <a:spcAft>
                <a:spcPts val="1400"/>
              </a:spcAft>
            </a:pPr>
            <a:r>
              <a:rPr sz="1800">
                <a:solidFill>
                  <a:srgbClr val="F2F2F2"/>
                </a:solidFill>
                <a:latin typeface="Calibri"/>
              </a:rPr>
              <a:t>▸  A real window manager — z-ordering, dirty-rect redraw, a minimal widget set, built directly on this review's framebuffer/font/mouse driver</a:t>
            </a:r>
          </a:p>
          <a:p>
            <a:pPr>
              <a:lnSpc>
                <a:spcPct val="108000"/>
              </a:lnSpc>
              <a:spcAft>
                <a:spcPts val="1400"/>
              </a:spcAft>
            </a:pPr>
            <a:r>
              <a:rPr sz="1800">
                <a:solidFill>
                  <a:srgbClr val="F2F2F2"/>
                </a:solidFill>
                <a:latin typeface="Calibri"/>
              </a:rPr>
              <a:t>▸  Start the network stack early if there's schedule slack — Review 3's biggest risk item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058400" cy="365760"/>
          </a:xfrm>
          <a:prstGeom prst="rect">
            <a:avLst/>
          </a:prstGeom>
          <a:noFill/>
        </p:spPr>
        <p:txBody>
          <a:bodyPr wrap="square" anchor="t">
            <a:spAutoFit/>
          </a:bodyPr>
          <a:lstStyle/>
          <a:p>
            <a:pPr algn="l">
              <a:lnSpc>
                <a:spcPct val="100000"/>
              </a:lnSpc>
            </a:pPr>
            <a:r>
              <a:rPr sz="1400" b="1" i="0">
                <a:solidFill>
                  <a:srgbClr val="FFD800"/>
                </a:solidFill>
                <a:latin typeface="Calibri"/>
              </a:rPr>
              <a:t>FUTURE SCOPE</a:t>
            </a:r>
          </a:p>
        </p:txBody>
      </p:sp>
      <p:sp>
        <p:nvSpPr>
          <p:cNvPr id="4" name="Rectangle 3"/>
          <p:cNvSpPr/>
          <p:nvPr/>
        </p:nvSpPr>
        <p:spPr>
          <a:xfrm>
            <a:off x="658368" y="749808"/>
            <a:ext cx="82296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515600" cy="822960"/>
          </a:xfrm>
          <a:prstGeom prst="rect">
            <a:avLst/>
          </a:prstGeom>
          <a:noFill/>
        </p:spPr>
        <p:txBody>
          <a:bodyPr wrap="square" anchor="t">
            <a:spAutoFit/>
          </a:bodyPr>
          <a:lstStyle/>
          <a:p>
            <a:pPr algn="l">
              <a:lnSpc>
                <a:spcPct val="100000"/>
              </a:lnSpc>
            </a:pPr>
            <a:r>
              <a:rPr sz="3000" b="1" i="0">
                <a:solidFill>
                  <a:srgbClr val="F2F2F2"/>
                </a:solidFill>
                <a:latin typeface="Calibri"/>
              </a:rPr>
              <a:t>Review 3 — Networking and the Web Browser</a:t>
            </a:r>
          </a:p>
        </p:txBody>
      </p:sp>
      <p:sp>
        <p:nvSpPr>
          <p:cNvPr id="6" name="TextBox 5"/>
          <p:cNvSpPr txBox="1"/>
          <p:nvPr/>
        </p:nvSpPr>
        <p:spPr>
          <a:xfrm>
            <a:off x="640080" y="6473952"/>
            <a:ext cx="5486400" cy="320040"/>
          </a:xfrm>
          <a:prstGeom prst="rect">
            <a:avLst/>
          </a:prstGeom>
          <a:noFill/>
        </p:spPr>
        <p:txBody>
          <a:bodyPr wrap="square" anchor="t">
            <a:spAutoFit/>
          </a:bodyPr>
          <a:lstStyle/>
          <a:p>
            <a:pPr algn="l">
              <a:lnSpc>
                <a:spcPct val="100000"/>
              </a:lnSpc>
            </a:pPr>
            <a:r>
              <a:rPr sz="1000" b="0" i="0">
                <a:solidFill>
                  <a:srgbClr val="A9B6C2"/>
                </a:solidFill>
                <a:latin typeface="Calibri"/>
              </a:rPr>
              <a:t>HawkOS — Project Review I</a:t>
            </a:r>
          </a:p>
        </p:txBody>
      </p:sp>
      <p:sp>
        <p:nvSpPr>
          <p:cNvPr id="7" name="TextBox 6"/>
          <p:cNvSpPr txBox="1"/>
          <p:nvPr/>
        </p:nvSpPr>
        <p:spPr>
          <a:xfrm>
            <a:off x="10607040" y="6473952"/>
            <a:ext cx="914400" cy="320040"/>
          </a:xfrm>
          <a:prstGeom prst="rect">
            <a:avLst/>
          </a:prstGeom>
          <a:noFill/>
        </p:spPr>
        <p:txBody>
          <a:bodyPr wrap="square" anchor="t">
            <a:spAutoFit/>
          </a:bodyPr>
          <a:lstStyle/>
          <a:p>
            <a:pPr algn="r">
              <a:lnSpc>
                <a:spcPct val="100000"/>
              </a:lnSpc>
            </a:pPr>
            <a:r>
              <a:rPr sz="1000" b="0" i="0">
                <a:solidFill>
                  <a:srgbClr val="A9B6C2"/>
                </a:solidFill>
                <a:latin typeface="Calibri"/>
              </a:rPr>
              <a:t>18</a:t>
            </a:r>
          </a:p>
        </p:txBody>
      </p:sp>
      <p:sp>
        <p:nvSpPr>
          <p:cNvPr id="8" name="TextBox 7"/>
          <p:cNvSpPr txBox="1"/>
          <p:nvPr/>
        </p:nvSpPr>
        <p:spPr>
          <a:xfrm>
            <a:off x="640080" y="1828800"/>
            <a:ext cx="10789920" cy="4206240"/>
          </a:xfrm>
          <a:prstGeom prst="rect">
            <a:avLst/>
          </a:prstGeom>
          <a:noFill/>
        </p:spPr>
        <p:txBody>
          <a:bodyPr wrap="square">
            <a:spAutoFit/>
          </a:bodyPr>
          <a:lstStyle/>
          <a:p>
            <a:pPr>
              <a:lnSpc>
                <a:spcPct val="108000"/>
              </a:lnSpc>
              <a:spcAft>
                <a:spcPts val="1200"/>
              </a:spcAft>
            </a:pPr>
            <a:r>
              <a:rPr sz="1700">
                <a:solidFill>
                  <a:srgbClr val="F2F2F2"/>
                </a:solidFill>
                <a:latin typeface="Calibri"/>
              </a:rPr>
              <a:t>▸  Network stack: one well-emulated NIC (virtio-net / RTL8139) — our own Ethernet→ARP→IP→ICMP→UDP→TCP + sockets</a:t>
            </a:r>
          </a:p>
          <a:p>
            <a:pPr>
              <a:lnSpc>
                <a:spcPct val="108000"/>
              </a:lnSpc>
              <a:spcAft>
                <a:spcPts val="1200"/>
              </a:spcAft>
            </a:pPr>
            <a:r>
              <a:rPr sz="1700">
                <a:solidFill>
                  <a:srgbClr val="F2F2F2"/>
                </a:solidFill>
                <a:latin typeface="Calibri"/>
              </a:rPr>
              <a:t>▸  HTTP client built on that TCP stack</a:t>
            </a:r>
          </a:p>
          <a:p>
            <a:pPr>
              <a:lnSpc>
                <a:spcPct val="108000"/>
              </a:lnSpc>
              <a:spcAft>
                <a:spcPts val="1200"/>
              </a:spcAft>
            </a:pPr>
            <a:r>
              <a:rPr sz="1700">
                <a:solidFill>
                  <a:srgbClr val="F2F2F2"/>
                </a:solidFill>
                <a:latin typeface="Calibri"/>
              </a:rPr>
              <a:t>▸  HTML/CSS via reused libraries: Gumbo (HTML5) + NetSurf's libcss/libparserutils/libwapcaplet — purpose-built for low-memory, non-POSIX targets</a:t>
            </a:r>
          </a:p>
          <a:p>
            <a:pPr>
              <a:lnSpc>
                <a:spcPct val="108000"/>
              </a:lnSpc>
              <a:spcAft>
                <a:spcPts val="1200"/>
              </a:spcAft>
            </a:pPr>
            <a:r>
              <a:rPr sz="1700">
                <a:solidFill>
                  <a:srgbClr val="F2F2F2"/>
                </a:solidFill>
                <a:latin typeface="Calibri"/>
              </a:rPr>
              <a:t>▸  Our code: OS integration, TCP/HTTP layer, and painting layout onto the framebuffer inside a real window</a:t>
            </a:r>
          </a:p>
          <a:p>
            <a:pPr>
              <a:lnSpc>
                <a:spcPct val="108000"/>
              </a:lnSpc>
              <a:spcAft>
                <a:spcPts val="1200"/>
              </a:spcAft>
            </a:pPr>
            <a:r>
              <a:rPr sz="1700">
                <a:solidFill>
                  <a:srgbClr val="F2F2F2"/>
                </a:solidFill>
                <a:latin typeface="Calibri"/>
              </a:rPr>
              <a:t>▸  To confirm early: check with the faculty guide that reused parsing libraries are acceptable for grading</a:t>
            </a:r>
          </a:p>
        </p:txBody>
      </p:sp>
      <p:sp>
        <p:nvSpPr>
          <p:cNvPr id="9" name="TextBox 8"/>
          <p:cNvSpPr txBox="1"/>
          <p:nvPr/>
        </p:nvSpPr>
        <p:spPr>
          <a:xfrm>
            <a:off x="640080" y="5806440"/>
            <a:ext cx="10789920" cy="640080"/>
          </a:xfrm>
          <a:prstGeom prst="rect">
            <a:avLst/>
          </a:prstGeom>
          <a:noFill/>
        </p:spPr>
        <p:txBody>
          <a:bodyPr wrap="square" anchor="t">
            <a:spAutoFit/>
          </a:bodyPr>
          <a:lstStyle/>
          <a:p>
            <a:pPr algn="l">
              <a:lnSpc>
                <a:spcPct val="100000"/>
              </a:lnSpc>
            </a:pPr>
            <a:r>
              <a:rPr sz="1500" b="1" i="1">
                <a:solidFill>
                  <a:srgbClr val="FFD800"/>
                </a:solidFill>
                <a:latin typeface="Calibri"/>
              </a:rPr>
              <a:t>Deliverable: a browser window inside the HawkOS desktop, fetching and rendering a real page over a real network connection.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743200"/>
            <a:ext cx="1188720" cy="73152"/>
          </a:xfrm>
          <a:prstGeom prst="rect">
            <a:avLst/>
          </a:prstGeom>
          <a:solidFill>
            <a:srgbClr val="FFD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880360"/>
            <a:ext cx="10515600" cy="914400"/>
          </a:xfrm>
          <a:prstGeom prst="rect">
            <a:avLst/>
          </a:prstGeom>
          <a:noFill/>
        </p:spPr>
        <p:txBody>
          <a:bodyPr wrap="square" anchor="t">
            <a:spAutoFit/>
          </a:bodyPr>
          <a:lstStyle/>
          <a:p>
            <a:pPr algn="l">
              <a:lnSpc>
                <a:spcPct val="100000"/>
              </a:lnSpc>
            </a:pPr>
            <a:r>
              <a:rPr sz="4800" b="1" i="0">
                <a:solidFill>
                  <a:srgbClr val="F2F2F2"/>
                </a:solidFill>
                <a:latin typeface="Calibri"/>
              </a:rPr>
              <a:t>Thank You</a:t>
            </a:r>
          </a:p>
        </p:txBody>
      </p:sp>
      <p:sp>
        <p:nvSpPr>
          <p:cNvPr id="5" name="TextBox 4"/>
          <p:cNvSpPr txBox="1"/>
          <p:nvPr/>
        </p:nvSpPr>
        <p:spPr>
          <a:xfrm>
            <a:off x="822960" y="3749039"/>
            <a:ext cx="10515600" cy="1280160"/>
          </a:xfrm>
          <a:prstGeom prst="rect">
            <a:avLst/>
          </a:prstGeom>
          <a:noFill/>
        </p:spPr>
        <p:txBody>
          <a:bodyPr wrap="square" anchor="t">
            <a:spAutoFit/>
          </a:bodyPr>
          <a:lstStyle/>
          <a:p>
            <a:pPr algn="l">
              <a:lnSpc>
                <a:spcPct val="120000"/>
              </a:lnSpc>
            </a:pPr>
            <a:r>
              <a:rPr sz="1700" b="0" i="0">
                <a:solidFill>
                  <a:srgbClr val="A9B6C2"/>
                </a:solidFill>
                <a:latin typeface="Calibri"/>
              </a:rPr>
              <a:t>A working protected-mode kernel with interrupts, drivers, memory management, storage, and a first GUI preview — the foundation for Review 2 and 3, ending in a browser running inside HawkOS's own desktop.</a:t>
            </a:r>
          </a:p>
        </p:txBody>
      </p:sp>
      <p:sp>
        <p:nvSpPr>
          <p:cNvPr id="6" name="TextBox 5"/>
          <p:cNvSpPr txBox="1"/>
          <p:nvPr/>
        </p:nvSpPr>
        <p:spPr>
          <a:xfrm>
            <a:off x="822960" y="6035040"/>
            <a:ext cx="10515600" cy="457200"/>
          </a:xfrm>
          <a:prstGeom prst="rect">
            <a:avLst/>
          </a:prstGeom>
          <a:noFill/>
        </p:spPr>
        <p:txBody>
          <a:bodyPr wrap="square" anchor="t">
            <a:spAutoFit/>
          </a:bodyPr>
          <a:lstStyle/>
          <a:p>
            <a:pPr algn="l">
              <a:lnSpc>
                <a:spcPct val="100000"/>
              </a:lnSpc>
            </a:pPr>
            <a:r>
              <a:rPr sz="1600" b="1" i="0">
                <a:solidFill>
                  <a:srgbClr val="FFD800"/>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TotalTime>
  <Words>1794</Words>
  <Application>Microsoft Office PowerPoint</Application>
  <PresentationFormat>Widescreen</PresentationFormat>
  <Paragraphs>240</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Priyanshu Ghosh</cp:lastModifiedBy>
  <cp:revision>2</cp:revision>
  <dcterms:created xsi:type="dcterms:W3CDTF">2013-01-27T09:14:16Z</dcterms:created>
  <dcterms:modified xsi:type="dcterms:W3CDTF">2026-08-19T19:46:08Z</dcterms:modified>
  <cp:category/>
</cp:coreProperties>
</file>